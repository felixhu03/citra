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93" r:id="rId6"/>
    <p:sldId id="282" r:id="rId7"/>
    <p:sldId id="259" r:id="rId8"/>
    <p:sldId id="283" r:id="rId9"/>
    <p:sldId id="284" r:id="rId10"/>
    <p:sldId id="285" r:id="rId11"/>
    <p:sldId id="288" r:id="rId12"/>
    <p:sldId id="273" r:id="rId13"/>
    <p:sldId id="268" r:id="rId14"/>
    <p:sldId id="286" r:id="rId15"/>
    <p:sldId id="289" r:id="rId16"/>
    <p:sldId id="290" r:id="rId17"/>
    <p:sldId id="287" r:id="rId18"/>
    <p:sldId id="267" r:id="rId19"/>
    <p:sldId id="269" r:id="rId20"/>
    <p:sldId id="270" r:id="rId21"/>
    <p:sldId id="294" r:id="rId22"/>
    <p:sldId id="271" r:id="rId23"/>
    <p:sldId id="272" r:id="rId24"/>
    <p:sldId id="292" r:id="rId25"/>
    <p:sldId id="274" r:id="rId26"/>
    <p:sldId id="29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6C49-3EF8-381D-D266-6078167FF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3E22B-83C9-16C6-08DD-0A99E0A4F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AB9FE-5BF8-E6F0-B662-EC23C305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99607-0E99-D61B-1532-33482733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E5995-36ED-AFA0-44FA-1F53EBAF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0C9-9C36-A042-EF05-26553F7D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99779-63E5-373B-A28C-98250069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2034C-B3ED-D957-4053-8935EFFC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E83BF-5CC3-CBCC-5D46-9EFA369ED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210B1-C7A1-6EED-F83D-F39236E5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D0FC-19E7-A1B9-DB25-88184A7C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7538A-5C4C-E585-F914-E0A21F6BB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517B2-ACE3-95DC-E7AC-0EF9F649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F06E9-6B93-D851-FF30-437FB247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8631A-A17A-1CD2-7DAD-ECDE4844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8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5BB7-58F6-FBBE-4995-D599B54E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8E49D-4733-E44C-9BCB-FB1048276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C6AE6-D10F-34AB-4A0B-E6D81A705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07993-130C-196B-692E-414CFEEFD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5EA2D-561C-59DF-1141-19448EC9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A2CBC-49A9-BDFF-A290-CA6BB4E6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5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3475-ECF7-5DA2-E613-F87B8587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6EE3C-9B1F-802E-9EEA-D01E320AE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316B2-5D40-2185-0408-9104C857E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D4899-C4A1-9DA9-135C-249902123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BBA3E-AD9D-90A3-FBFC-7EA325A7B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2342D-EE6B-82FC-D153-497AB439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C88B8F-71FE-B6AD-2E36-296053D2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EEB2C7-F48F-0E49-5A66-936325E2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0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12AA-28AE-E2BD-5B9E-C0ED90932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25791-A571-03DE-5026-338659DD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1653A-7F10-1B73-2B81-43568A88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4DABE-D494-EDE8-9F0E-E4324DCD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1A22E-CB1F-9B23-B1F6-0AFB0C10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5C7C7-1C3D-FF0D-5F03-6FEB3B0F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6EB88-3AA1-82F4-080A-86501801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2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A417D-59CE-86A4-ED37-7D91D9818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8321A-2277-F4B2-B1B1-13FA38BF4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DAC81-1BEF-2ED1-C28D-0E728E4C0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832DB-19A8-3DDA-F21A-305EF8D4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BA673-3EC1-A917-6CD5-9B10A534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89693-598B-0F79-A13E-6D581872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6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C5DC9-9EE7-F4FC-2DB8-50619F57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5FA6D-19F7-98DA-0737-5EB978B29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160FB-0983-22A5-4DB2-5A29C4689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74769-D8B7-9D3E-6BDA-48BD2987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9E3D3-FDAE-EADB-630E-2EA88627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8DE2A-247D-A70B-33C9-B5681A55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A71B-CA48-7964-CDAD-1BA4FC86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17254-A681-B5EE-CEDD-E4CBC8E63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3C2AD-91F0-D2E7-8ABE-CF36CA0C2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6FAF9-0CBD-53C5-16B9-AEB743A4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66C8-A208-6BB1-31AE-F7D6513A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0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9FCDE-D70F-F8E1-AFA3-1C073E365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E60E3-7CFA-9464-EDDD-0120155AD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E53C1-6F95-A108-A66D-249932DD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F1FB1-733E-0D50-D544-B6A4F0D7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FCE7C-F033-D22F-52D7-71571291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9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B38B07-AED1-DB81-0476-CE1430319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EBFF1-D10A-166D-C4B4-B28434D1B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DC0F3-6583-9213-8BC2-3CA55CE0C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F0F54-243F-4CBB-A9AD-9434AD17551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154B9-D64C-81B3-083C-CD51CDD88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DE4A2-6463-DBB5-8821-4AD61177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F35DD-408B-4EB3-8DE6-6965C4B6E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0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DF36-1BD6-564E-5450-2147A0E43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Fourier Transform (Theory)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96699-A233-B30F-4386-9954C4027F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52161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5D3D-4923-83C1-C3C4-A0C3B6B0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Periodic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FED89-462C-8A0E-AFE1-A8A7C1C2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Almost of periodic function can be stated as sum of sine and cosine sequences form varied by its frequency.</a:t>
            </a: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D3477E-5CEF-FEDB-E982-78BDF26B0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13" y="2873066"/>
            <a:ext cx="7123164" cy="3798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534D9B-1759-AEEA-22E0-64E2AD1D7A6D}"/>
              </a:ext>
            </a:extLst>
          </p:cNvPr>
          <p:cNvSpPr txBox="1"/>
          <p:nvPr/>
        </p:nvSpPr>
        <p:spPr>
          <a:xfrm rot="16200000">
            <a:off x="-205804" y="4510487"/>
            <a:ext cx="2088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Square Wave</a:t>
            </a:r>
          </a:p>
        </p:txBody>
      </p:sp>
    </p:spTree>
    <p:extLst>
      <p:ext uri="{BB962C8B-B14F-4D97-AF65-F5344CB8AC3E}">
        <p14:creationId xmlns:p14="http://schemas.microsoft.com/office/powerpoint/2010/main" val="135079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ED95-253B-3B78-18AA-64640255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2335D1-1D4F-F00E-F6C2-4C73C85D32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func>
                          <m:func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𝐹𝑡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GB" sz="2800" b="0" dirty="0"/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=1→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𝐹𝑡</m:t>
                            </m:r>
                          </m:e>
                        </m:d>
                      </m:e>
                    </m:func>
                  </m:oMath>
                </a14:m>
                <a:endParaRPr lang="en-GB" sz="2800" dirty="0"/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𝐹𝑡</m:t>
                            </m:r>
                          </m:e>
                        </m:d>
                      </m:e>
                    </m:func>
                  </m:oMath>
                </a14:m>
                <a:endParaRPr lang="en-GB" sz="2800" dirty="0"/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GB" sz="28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8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𝐹𝑡</m:t>
                            </m:r>
                          </m:e>
                        </m:d>
                      </m:e>
                    </m:func>
                  </m:oMath>
                </a14:m>
                <a:endParaRPr lang="en-GB" sz="2800" dirty="0"/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GB" sz="28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𝐹𝑡</m:t>
                            </m:r>
                          </m:e>
                        </m:d>
                      </m:e>
                    </m:func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2335D1-1D4F-F00E-F6C2-4C73C85D32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71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BD0E3D-90DB-4759-875D-E4D033953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6" y="195261"/>
            <a:ext cx="3619500" cy="2579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B04F043-0592-4953-B119-C179D5BD926D}"/>
                  </a:ext>
                </a:extLst>
              </p:cNvPr>
              <p:cNvSpPr/>
              <p:nvPr/>
            </p:nvSpPr>
            <p:spPr>
              <a:xfrm>
                <a:off x="7748733" y="4556806"/>
                <a:ext cx="3957494" cy="871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B04F043-0592-4953-B119-C179D5BD9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33" y="4556806"/>
                <a:ext cx="3957494" cy="871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21177FF7-C1C8-5780-001A-1EC40906B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708" y="195261"/>
            <a:ext cx="3532863" cy="25798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33B180A-F40A-D19D-C993-2CE3C3493FF4}"/>
              </a:ext>
            </a:extLst>
          </p:cNvPr>
          <p:cNvSpPr txBox="1">
            <a:spLocks/>
          </p:cNvSpPr>
          <p:nvPr/>
        </p:nvSpPr>
        <p:spPr>
          <a:xfrm>
            <a:off x="5249867" y="2945148"/>
            <a:ext cx="1076325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+mn-lt"/>
              </a:rPr>
              <a:t>N = 5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64B27C3-60E4-7CAC-FC3A-D26B1B0D7992}"/>
              </a:ext>
            </a:extLst>
          </p:cNvPr>
          <p:cNvSpPr txBox="1">
            <a:spLocks/>
          </p:cNvSpPr>
          <p:nvPr/>
        </p:nvSpPr>
        <p:spPr>
          <a:xfrm>
            <a:off x="1471613" y="2945148"/>
            <a:ext cx="1076325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+mn-lt"/>
              </a:rPr>
              <a:t>N = 1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F8CC1160-B219-CF6C-6098-6E984C4C4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6" y="3578728"/>
            <a:ext cx="3619500" cy="262118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B246F58-DE77-D4EB-8133-BE9ABBC3A287}"/>
              </a:ext>
            </a:extLst>
          </p:cNvPr>
          <p:cNvSpPr txBox="1">
            <a:spLocks/>
          </p:cNvSpPr>
          <p:nvPr/>
        </p:nvSpPr>
        <p:spPr>
          <a:xfrm>
            <a:off x="9137891" y="2945148"/>
            <a:ext cx="1179178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+mn-lt"/>
              </a:rPr>
              <a:t>N = 10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C5498FF1-C5C3-9C58-B0C5-C11D1B230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841" y="195261"/>
            <a:ext cx="3571368" cy="257985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B49D237-7B3D-FFAB-F4E7-A3BEEF45E672}"/>
              </a:ext>
            </a:extLst>
          </p:cNvPr>
          <p:cNvSpPr txBox="1">
            <a:spLocks/>
          </p:cNvSpPr>
          <p:nvPr/>
        </p:nvSpPr>
        <p:spPr>
          <a:xfrm>
            <a:off x="1302543" y="6305319"/>
            <a:ext cx="1414463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+mn-lt"/>
              </a:rPr>
              <a:t>N = 50</a:t>
            </a:r>
          </a:p>
        </p:txBody>
      </p:sp>
      <p:pic>
        <p:nvPicPr>
          <p:cNvPr id="17" name="Content Placeholder 3">
            <a:extLst>
              <a:ext uri="{FF2B5EF4-FFF2-40B4-BE49-F238E27FC236}">
                <a16:creationId xmlns:a16="http://schemas.microsoft.com/office/drawing/2014/main" id="{11D8B4DB-5EBC-D791-D780-A4A534FCB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6708" y="3578727"/>
            <a:ext cx="3663704" cy="262118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C58D13A-259E-54EC-A13F-44E578D2CC45}"/>
              </a:ext>
            </a:extLst>
          </p:cNvPr>
          <p:cNvSpPr txBox="1">
            <a:spLocks/>
          </p:cNvSpPr>
          <p:nvPr/>
        </p:nvSpPr>
        <p:spPr>
          <a:xfrm>
            <a:off x="5090629" y="6306677"/>
            <a:ext cx="1414463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>
                <a:latin typeface="+mn-lt"/>
              </a:rPr>
              <a:t>N = 100</a:t>
            </a:r>
          </a:p>
        </p:txBody>
      </p:sp>
    </p:spTree>
    <p:extLst>
      <p:ext uri="{BB962C8B-B14F-4D97-AF65-F5344CB8AC3E}">
        <p14:creationId xmlns:p14="http://schemas.microsoft.com/office/powerpoint/2010/main" val="274243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FC1836-D7FF-2632-5D80-B6CEE131A9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Frekuensi =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D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𝐹𝑡</m:t>
                            </m:r>
                          </m:e>
                        </m:d>
                      </m:e>
                    </m:func>
                  </m:oMath>
                </a14:m>
                <a:r>
                  <a:rPr lang="en-ID" dirty="0"/>
                  <a:t> (</a:t>
                </a:r>
                <a:r>
                  <a:rPr lang="en-ID" dirty="0" err="1"/>
                  <a:t>periode</a:t>
                </a:r>
                <a:r>
                  <a:rPr lang="en-ID" dirty="0"/>
                  <a:t> T=2 sec)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FC1836-D7FF-2632-5D80-B6CEE131A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678F164-FBB7-6A4D-E3C8-3D1A63B90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8125" r="2904"/>
          <a:stretch/>
        </p:blipFill>
        <p:spPr>
          <a:xfrm>
            <a:off x="5371069" y="1825625"/>
            <a:ext cx="35999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13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D991-44C4-4E4C-9592-57100B53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942181" y="3377405"/>
            <a:ext cx="1990725" cy="1325563"/>
          </a:xfrm>
        </p:spPr>
        <p:txBody>
          <a:bodyPr/>
          <a:lstStyle/>
          <a:p>
            <a:r>
              <a:rPr lang="en-GB" dirty="0"/>
              <a:t>N=1000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A0F738-D1F4-4F60-BAEC-39DF0B46D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0326" y="1587498"/>
            <a:ext cx="6991350" cy="4905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23AAEF1-44B1-25B2-E226-6B6E90D59ED8}"/>
                  </a:ext>
                </a:extLst>
              </p:cNvPr>
              <p:cNvSpPr/>
              <p:nvPr/>
            </p:nvSpPr>
            <p:spPr>
              <a:xfrm>
                <a:off x="4117253" y="439905"/>
                <a:ext cx="3957494" cy="871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23AAEF1-44B1-25B2-E226-6B6E90D59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253" y="439905"/>
                <a:ext cx="3957494" cy="871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39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FEED-57EC-234F-97F7-AFD8AC6CA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Sawtooth Wave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148E93-C43D-0385-B084-7AD6C72A5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6120" y="1825625"/>
            <a:ext cx="81197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58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CA78-EBDB-574F-6BF7-D06B1F8C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Sawtooth Wave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D83FE-8D3E-615B-41B0-E7630C8AD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func>
                          <m:func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𝑛𝐹𝑡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GB" sz="2400" b="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=1→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=2→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=3→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=∞→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D83FE-8D3E-615B-41B0-E7630C8AD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4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AA9E8-8364-7F4F-A7AC-7BFBDAF9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N=10</a:t>
            </a:r>
            <a:endParaRPr lang="en-US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7EBD0F76-85FE-2C60-F0E6-4B99B0B66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9817" y="1825625"/>
            <a:ext cx="8612365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3AC91E-A9B4-9D26-AC49-BDFFCDC92236}"/>
                  </a:ext>
                </a:extLst>
              </p:cNvPr>
              <p:cNvSpPr txBox="1"/>
              <p:nvPr/>
            </p:nvSpPr>
            <p:spPr>
              <a:xfrm>
                <a:off x="2514600" y="705382"/>
                <a:ext cx="6096000" cy="645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func>
                          <m:func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𝑛𝐹𝑡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GB" sz="2400" b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3AC91E-A9B4-9D26-AC49-BDFFCDC92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705382"/>
                <a:ext cx="6096000" cy="645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96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F3A4-C0B6-C7E5-944C-F048A9B5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Deret</a:t>
            </a:r>
            <a:r>
              <a:rPr lang="en-US" dirty="0"/>
              <a:t>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0319A-4AB1-D9F4-1D0F-11E90ADB50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GB" dirty="0"/>
                  <a:t>Sebuah </a:t>
                </a:r>
                <a:r>
                  <a:rPr lang="en-GB" dirty="0" err="1"/>
                  <a:t>fungsi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dapat</a:t>
                </a:r>
                <a:r>
                  <a:rPr lang="en-GB" dirty="0"/>
                  <a:t> </a:t>
                </a:r>
                <a:r>
                  <a:rPr lang="en-GB" dirty="0" err="1"/>
                  <a:t>dinyatakan</a:t>
                </a:r>
                <a:r>
                  <a:rPr lang="en-GB" dirty="0"/>
                  <a:t> </a:t>
                </a:r>
                <a:r>
                  <a:rPr lang="en-GB" dirty="0" err="1"/>
                  <a:t>sebagai</a:t>
                </a:r>
                <a:r>
                  <a:rPr lang="en-GB" dirty="0"/>
                  <a:t> </a:t>
                </a:r>
                <a:r>
                  <a:rPr lang="en-GB" dirty="0" err="1"/>
                  <a:t>deret</a:t>
                </a:r>
                <a:r>
                  <a:rPr lang="en-GB" dirty="0"/>
                  <a:t> </a:t>
                </a:r>
                <a:r>
                  <a:rPr lang="en-GB" dirty="0" err="1"/>
                  <a:t>dari</a:t>
                </a:r>
                <a:r>
                  <a:rPr lang="en-GB" dirty="0"/>
                  <a:t> sinus dan </a:t>
                </a:r>
                <a:r>
                  <a:rPr lang="en-GB" dirty="0" err="1"/>
                  <a:t>kosinus</a:t>
                </a:r>
                <a:endParaRPr lang="en-GB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 algn="just">
                  <a:buNone/>
                </a:pPr>
                <a:r>
                  <a:rPr lang="en-GB" dirty="0" err="1"/>
                  <a:t>dengan</a:t>
                </a:r>
                <a:endParaRPr lang="en-GB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𝑛𝐹𝑡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, dan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𝐹𝑡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untuk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=1,2,3,…</m:t>
                    </m:r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0319A-4AB1-D9F4-1D0F-11E90ADB50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491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8F4B-1AFC-956F-83A8-5A2221E7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Transformasi</a:t>
            </a:r>
            <a:r>
              <a:rPr lang="en-US" dirty="0"/>
              <a:t> Fourier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4084-C20B-6770-A280-1001F0AE9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 err="1"/>
              <a:t>Transformasi</a:t>
            </a:r>
            <a:r>
              <a:rPr lang="en-GB" dirty="0"/>
              <a:t> Fourier </a:t>
            </a:r>
            <a:r>
              <a:rPr lang="en-GB" dirty="0" err="1"/>
              <a:t>memetakan</a:t>
            </a:r>
            <a:r>
              <a:rPr lang="en-GB" dirty="0"/>
              <a:t> </a:t>
            </a:r>
            <a:r>
              <a:rPr lang="en-GB" dirty="0" err="1"/>
              <a:t>sebuah</a:t>
            </a:r>
            <a:r>
              <a:rPr lang="en-GB" dirty="0"/>
              <a:t> </a:t>
            </a:r>
            <a:r>
              <a:rPr lang="en-GB" dirty="0" err="1"/>
              <a:t>deret</a:t>
            </a:r>
            <a:r>
              <a:rPr lang="en-GB" dirty="0"/>
              <a:t> </a:t>
            </a:r>
            <a:r>
              <a:rPr lang="en-GB" dirty="0" err="1"/>
              <a:t>waktu</a:t>
            </a:r>
            <a:r>
              <a:rPr lang="en-GB" dirty="0"/>
              <a:t> (</a:t>
            </a:r>
            <a:r>
              <a:rPr lang="en-GB" i="1" dirty="0"/>
              <a:t>time series</a:t>
            </a:r>
            <a:r>
              <a:rPr lang="en-GB" dirty="0"/>
              <a:t>) </a:t>
            </a:r>
            <a:r>
              <a:rPr lang="en-GB" dirty="0" err="1"/>
              <a:t>seperti</a:t>
            </a:r>
            <a:r>
              <a:rPr lang="en-GB" dirty="0"/>
              <a:t> </a:t>
            </a:r>
            <a:r>
              <a:rPr lang="en-GB" dirty="0" err="1"/>
              <a:t>sampel</a:t>
            </a:r>
            <a:r>
              <a:rPr lang="en-GB" dirty="0"/>
              <a:t> audio (</a:t>
            </a:r>
            <a:r>
              <a:rPr lang="en-GB" dirty="0" err="1"/>
              <a:t>sinyal</a:t>
            </a:r>
            <a:r>
              <a:rPr lang="en-GB" dirty="0"/>
              <a:t>) </a:t>
            </a:r>
            <a:r>
              <a:rPr lang="en-GB" dirty="0" err="1"/>
              <a:t>ke</a:t>
            </a:r>
            <a:r>
              <a:rPr lang="en-GB" dirty="0"/>
              <a:t> </a:t>
            </a:r>
            <a:r>
              <a:rPr lang="en-GB" dirty="0" err="1"/>
              <a:t>dalam</a:t>
            </a:r>
            <a:r>
              <a:rPr lang="en-GB" dirty="0"/>
              <a:t> </a:t>
            </a:r>
            <a:r>
              <a:rPr lang="en-GB" dirty="0" err="1"/>
              <a:t>deret</a:t>
            </a:r>
            <a:r>
              <a:rPr lang="en-GB" dirty="0"/>
              <a:t> </a:t>
            </a:r>
            <a:r>
              <a:rPr lang="en-GB" dirty="0" err="1"/>
              <a:t>frekuensi</a:t>
            </a:r>
            <a:r>
              <a:rPr lang="en-GB" dirty="0"/>
              <a:t> </a:t>
            </a:r>
            <a:r>
              <a:rPr lang="en-GB" dirty="0" err="1"/>
              <a:t>yaitu</a:t>
            </a:r>
            <a:r>
              <a:rPr lang="en-GB" dirty="0"/>
              <a:t> amplitude dan </a:t>
            </a:r>
            <a:r>
              <a:rPr lang="en-GB" dirty="0" err="1"/>
              <a:t>fasenya</a:t>
            </a:r>
            <a:r>
              <a:rPr lang="en-GB" dirty="0"/>
              <a:t>.</a:t>
            </a:r>
          </a:p>
          <a:p>
            <a:pPr algn="just"/>
            <a:r>
              <a:rPr lang="en-GB" dirty="0"/>
              <a:t>Invers </a:t>
            </a:r>
            <a:r>
              <a:rPr lang="en-GB" dirty="0" err="1"/>
              <a:t>Transformasi</a:t>
            </a:r>
            <a:r>
              <a:rPr lang="en-GB" dirty="0"/>
              <a:t> Fourier </a:t>
            </a:r>
            <a:r>
              <a:rPr lang="en-GB" dirty="0" err="1"/>
              <a:t>memetakan</a:t>
            </a:r>
            <a:r>
              <a:rPr lang="en-GB" dirty="0"/>
              <a:t> </a:t>
            </a:r>
            <a:r>
              <a:rPr lang="en-GB" dirty="0" err="1"/>
              <a:t>deret</a:t>
            </a:r>
            <a:r>
              <a:rPr lang="en-GB" dirty="0"/>
              <a:t> </a:t>
            </a:r>
            <a:r>
              <a:rPr lang="en-GB" dirty="0" err="1"/>
              <a:t>frekuensi</a:t>
            </a:r>
            <a:r>
              <a:rPr lang="en-GB" dirty="0"/>
              <a:t> </a:t>
            </a:r>
            <a:r>
              <a:rPr lang="en-GB" dirty="0" err="1"/>
              <a:t>kembali</a:t>
            </a:r>
            <a:r>
              <a:rPr lang="en-GB" dirty="0"/>
              <a:t> </a:t>
            </a:r>
            <a:r>
              <a:rPr lang="en-GB" dirty="0" err="1"/>
              <a:t>ke</a:t>
            </a:r>
            <a:r>
              <a:rPr lang="en-GB" dirty="0"/>
              <a:t> </a:t>
            </a:r>
            <a:r>
              <a:rPr lang="en-GB" dirty="0" err="1"/>
              <a:t>deret</a:t>
            </a:r>
            <a:r>
              <a:rPr lang="en-GB" dirty="0"/>
              <a:t> </a:t>
            </a:r>
            <a:r>
              <a:rPr lang="en-GB" dirty="0" err="1"/>
              <a:t>waktu</a:t>
            </a:r>
            <a:r>
              <a:rPr lang="en-GB" dirty="0"/>
              <a:t> (yang </a:t>
            </a:r>
            <a:r>
              <a:rPr lang="en-GB" dirty="0" err="1"/>
              <a:t>berkorespondensi</a:t>
            </a:r>
            <a:r>
              <a:rPr lang="en-GB" dirty="0"/>
              <a:t>).</a:t>
            </a:r>
          </a:p>
          <a:p>
            <a:pPr algn="just"/>
            <a:r>
              <a:rPr lang="en-GB" dirty="0" err="1"/>
              <a:t>Kedua</a:t>
            </a:r>
            <a:r>
              <a:rPr lang="en-GB" dirty="0"/>
              <a:t> </a:t>
            </a:r>
            <a:r>
              <a:rPr lang="en-GB" dirty="0" err="1"/>
              <a:t>fungsi</a:t>
            </a:r>
            <a:r>
              <a:rPr lang="en-GB" dirty="0"/>
              <a:t> </a:t>
            </a:r>
            <a:r>
              <a:rPr lang="en-GB" dirty="0" err="1"/>
              <a:t>tersebut</a:t>
            </a:r>
            <a:r>
              <a:rPr lang="en-GB" dirty="0"/>
              <a:t> </a:t>
            </a:r>
            <a:r>
              <a:rPr lang="en-GB" dirty="0" err="1"/>
              <a:t>saling</a:t>
            </a:r>
            <a:r>
              <a:rPr lang="en-GB" dirty="0"/>
              <a:t> </a:t>
            </a:r>
            <a:r>
              <a:rPr lang="en-GB" dirty="0" err="1"/>
              <a:t>menginverskan</a:t>
            </a:r>
            <a:r>
              <a:rPr lang="en-GB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5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1DB1-C590-4676-A926-A6099845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vs Frequency Domain</a:t>
            </a:r>
          </a:p>
        </p:txBody>
      </p:sp>
      <p:pic>
        <p:nvPicPr>
          <p:cNvPr id="2052" name="Picture 4" descr="Gambar terkait">
            <a:extLst>
              <a:ext uri="{FF2B5EF4-FFF2-40B4-BE49-F238E27FC236}">
                <a16:creationId xmlns:a16="http://schemas.microsoft.com/office/drawing/2014/main" id="{AFF8CB9B-3DCC-46C9-B413-F7F824D2CF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551" y="1690688"/>
            <a:ext cx="6658297" cy="468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Man in glasses wearing turtleneck">
            <a:extLst>
              <a:ext uri="{FF2B5EF4-FFF2-40B4-BE49-F238E27FC236}">
                <a16:creationId xmlns:a16="http://schemas.microsoft.com/office/drawing/2014/main" id="{5A01B0F3-974D-D462-4115-65D2F3301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152" y="2223165"/>
            <a:ext cx="2832920" cy="381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71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820A-C4EA-490F-B568-C3B4ED60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vs Frequency Domain</a:t>
            </a:r>
          </a:p>
        </p:txBody>
      </p:sp>
      <p:pic>
        <p:nvPicPr>
          <p:cNvPr id="1026" name="Picture 2" descr="Hasil gambar untuk sampling frequency">
            <a:extLst>
              <a:ext uri="{FF2B5EF4-FFF2-40B4-BE49-F238E27FC236}">
                <a16:creationId xmlns:a16="http://schemas.microsoft.com/office/drawing/2014/main" id="{5AFC3CB0-5E27-41B6-9C6A-CCE95A3761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427" y="1991042"/>
            <a:ext cx="7285714" cy="427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 descr="Man in glasses wearing turtleneck">
            <a:extLst>
              <a:ext uri="{FF2B5EF4-FFF2-40B4-BE49-F238E27FC236}">
                <a16:creationId xmlns:a16="http://schemas.microsoft.com/office/drawing/2014/main" id="{5B785222-8380-F07D-D820-F75FB140B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152" y="2223165"/>
            <a:ext cx="2832920" cy="381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36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D87A-616A-EBE2-EF2A-46DCFF44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Transformasi</a:t>
            </a:r>
            <a:r>
              <a:rPr lang="en-GB" dirty="0"/>
              <a:t> Fourier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E45D11-4FE2-2B25-0086-8E3207C472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Deret </a:t>
                </a:r>
                <a:r>
                  <a:rPr lang="en-GB" dirty="0" err="1"/>
                  <a:t>fourier</a:t>
                </a:r>
                <a:r>
                  <a:rPr lang="en-GB" dirty="0"/>
                  <a:t> </a:t>
                </a:r>
                <a:r>
                  <a:rPr lang="en-GB" dirty="0" err="1"/>
                  <a:t>dapat</a:t>
                </a:r>
                <a:r>
                  <a:rPr lang="en-GB" dirty="0"/>
                  <a:t> </a:t>
                </a:r>
                <a:r>
                  <a:rPr lang="en-GB" dirty="0" err="1"/>
                  <a:t>dinyatakan</a:t>
                </a:r>
                <a:r>
                  <a:rPr lang="en-GB" dirty="0"/>
                  <a:t> </a:t>
                </a:r>
                <a:r>
                  <a:rPr lang="en-GB" dirty="0" err="1"/>
                  <a:t>dalam</a:t>
                </a:r>
                <a:r>
                  <a:rPr lang="en-GB" dirty="0"/>
                  <a:t> </a:t>
                </a:r>
                <a:r>
                  <a:rPr lang="en-GB" dirty="0" err="1"/>
                  <a:t>bentuk</a:t>
                </a:r>
                <a:r>
                  <a:rPr lang="en-GB" dirty="0"/>
                  <a:t> yang </a:t>
                </a:r>
                <a:r>
                  <a:rPr lang="en-GB" dirty="0" err="1"/>
                  <a:t>lebih</a:t>
                </a:r>
                <a:r>
                  <a:rPr lang="en-GB" dirty="0"/>
                  <a:t> </a:t>
                </a:r>
                <a:r>
                  <a:rPr lang="en-GB" dirty="0" err="1"/>
                  <a:t>umum</a:t>
                </a:r>
                <a:r>
                  <a:rPr lang="en-GB" dirty="0"/>
                  <a:t> </a:t>
                </a:r>
                <a:r>
                  <a:rPr lang="en-GB" dirty="0" err="1"/>
                  <a:t>ke</a:t>
                </a:r>
                <a:r>
                  <a:rPr lang="en-GB" dirty="0"/>
                  <a:t> </a:t>
                </a:r>
                <a:r>
                  <a:rPr lang="en-GB" dirty="0" err="1"/>
                  <a:t>dalam</a:t>
                </a:r>
                <a:r>
                  <a:rPr lang="en-GB" dirty="0"/>
                  <a:t> </a:t>
                </a:r>
                <a:r>
                  <a:rPr lang="en-GB" dirty="0" err="1"/>
                  <a:t>bilangan</a:t>
                </a:r>
                <a:r>
                  <a:rPr lang="en-GB" dirty="0"/>
                  <a:t> </a:t>
                </a:r>
                <a:r>
                  <a:rPr lang="en-GB" dirty="0" err="1"/>
                  <a:t>kompleks</a:t>
                </a:r>
                <a:r>
                  <a:rPr lang="en-GB" dirty="0"/>
                  <a:t>.</a:t>
                </a:r>
              </a:p>
              <a:p>
                <a:r>
                  <a:rPr lang="en-GB" dirty="0" err="1"/>
                  <a:t>Transformasi</a:t>
                </a:r>
                <a:r>
                  <a:rPr lang="en-GB" dirty="0"/>
                  <a:t> Fourier: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𝑖𝑘𝑡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Invers </a:t>
                </a:r>
                <a:r>
                  <a:rPr lang="en-GB" dirty="0" err="1"/>
                  <a:t>Transformasi</a:t>
                </a:r>
                <a:r>
                  <a:rPr lang="en-GB" dirty="0"/>
                  <a:t> Fourier: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𝑖𝑘𝑡</m:t>
                              </m:r>
                            </m:sup>
                          </m:sSup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𝑑𝑘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   </a:t>
                </a:r>
                <a:r>
                  <a:rPr lang="en-GB" dirty="0" err="1"/>
                  <a:t>dengan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E45D11-4FE2-2B25-0086-8E3207C472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900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8407A-2D49-EB05-5E81-B2D1AE1E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Transformasi</a:t>
            </a:r>
            <a:r>
              <a:rPr lang="en-GB" dirty="0"/>
              <a:t> Fourier </a:t>
            </a:r>
            <a:r>
              <a:rPr lang="en-GB" dirty="0" err="1"/>
              <a:t>Diskrit</a:t>
            </a:r>
            <a:r>
              <a:rPr lang="en-GB" dirty="0"/>
              <a:t> (DFT)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E35F9-5D7C-CAC4-7A96-A6E1F6C259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GB" sz="2800" dirty="0"/>
                  <a:t>Jika </a:t>
                </a:r>
                <a:r>
                  <a:rPr lang="en-GB" sz="2800" dirty="0" err="1"/>
                  <a:t>kita</a:t>
                </a:r>
                <a:r>
                  <a:rPr lang="en-GB" sz="2800" dirty="0"/>
                  <a:t> </a:t>
                </a:r>
                <a:r>
                  <a:rPr lang="en-GB" sz="2800" dirty="0" err="1"/>
                  <a:t>ingin</a:t>
                </a:r>
                <a:r>
                  <a:rPr lang="en-GB" sz="2800" dirty="0"/>
                  <a:t> </a:t>
                </a:r>
                <a:r>
                  <a:rPr lang="en-GB" sz="2800" dirty="0" err="1"/>
                  <a:t>menemukan</a:t>
                </a:r>
                <a:r>
                  <a:rPr lang="en-GB" sz="2800" dirty="0"/>
                  <a:t> </a:t>
                </a:r>
                <a:r>
                  <a:rPr lang="en-GB" sz="2800" dirty="0" err="1"/>
                  <a:t>spektrum</a:t>
                </a:r>
                <a:r>
                  <a:rPr lang="en-GB" sz="2800" dirty="0"/>
                  <a:t> </a:t>
                </a:r>
                <a:r>
                  <a:rPr lang="en-GB" sz="2800" dirty="0" err="1"/>
                  <a:t>frekuensi</a:t>
                </a:r>
                <a:r>
                  <a:rPr lang="en-GB" sz="2800" dirty="0"/>
                  <a:t> </a:t>
                </a:r>
                <a:r>
                  <a:rPr lang="en-GB" sz="2800" dirty="0" err="1"/>
                  <a:t>dari</a:t>
                </a:r>
                <a:r>
                  <a:rPr lang="en-GB" sz="2800" dirty="0"/>
                  <a:t> </a:t>
                </a:r>
                <a:r>
                  <a:rPr lang="en-GB" sz="2800" dirty="0" err="1"/>
                  <a:t>sebuah</a:t>
                </a:r>
                <a:r>
                  <a:rPr lang="en-GB" sz="2800" dirty="0"/>
                  <a:t> </a:t>
                </a:r>
                <a:r>
                  <a:rPr lang="en-GB" sz="2800" dirty="0" err="1"/>
                  <a:t>fungsi</a:t>
                </a:r>
                <a:r>
                  <a:rPr lang="en-GB" sz="2800" dirty="0"/>
                  <a:t> yang </a:t>
                </a:r>
                <a:r>
                  <a:rPr lang="en-GB" sz="2800" dirty="0" err="1"/>
                  <a:t>telah</a:t>
                </a:r>
                <a:r>
                  <a:rPr lang="en-GB" sz="2800" dirty="0"/>
                  <a:t> </a:t>
                </a:r>
                <a:r>
                  <a:rPr lang="en-GB" sz="2800" dirty="0" err="1"/>
                  <a:t>kita</a:t>
                </a:r>
                <a:r>
                  <a:rPr lang="en-GB" sz="2800" dirty="0"/>
                  <a:t> </a:t>
                </a:r>
                <a:r>
                  <a:rPr lang="en-GB" sz="2800" dirty="0" err="1"/>
                  <a:t>lakukan</a:t>
                </a:r>
                <a:r>
                  <a:rPr lang="en-GB" sz="2800" dirty="0"/>
                  <a:t> proses </a:t>
                </a:r>
                <a:r>
                  <a:rPr lang="en-GB" sz="2800" i="1" dirty="0"/>
                  <a:t>sampling</a:t>
                </a:r>
                <a:r>
                  <a:rPr lang="en-GB" sz="2800" dirty="0"/>
                  <a:t>, </a:t>
                </a:r>
                <a:r>
                  <a:rPr lang="en-GB" sz="2800" dirty="0" err="1"/>
                  <a:t>maka</a:t>
                </a:r>
                <a:r>
                  <a:rPr lang="en-GB" sz="2800" dirty="0"/>
                  <a:t> </a:t>
                </a:r>
                <a:r>
                  <a:rPr lang="en-GB" sz="2800" dirty="0" err="1"/>
                  <a:t>kita</a:t>
                </a:r>
                <a:r>
                  <a:rPr lang="en-GB" sz="2800" dirty="0"/>
                  <a:t> </a:t>
                </a:r>
                <a:r>
                  <a:rPr lang="en-GB" sz="2800" dirty="0" err="1"/>
                  <a:t>dapat</a:t>
                </a:r>
                <a:r>
                  <a:rPr lang="en-GB" sz="2800" dirty="0"/>
                  <a:t> </a:t>
                </a:r>
                <a:r>
                  <a:rPr lang="en-GB" sz="2800" dirty="0" err="1"/>
                  <a:t>menggunakan</a:t>
                </a:r>
                <a:r>
                  <a:rPr lang="en-GB" sz="2800" dirty="0"/>
                  <a:t> DFT.</a:t>
                </a:r>
              </a:p>
              <a:p>
                <a:pPr algn="just"/>
                <a:r>
                  <a:rPr lang="en-GB" sz="2800" i="1" dirty="0"/>
                  <a:t>Discrete Fourier Transform</a:t>
                </a:r>
                <a:r>
                  <a:rPr lang="en-GB" sz="2800" dirty="0"/>
                  <a:t> (DFT):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𝑖𝑛𝑘</m:t>
                                </m:r>
                              </m:num>
                              <m:den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sup>
                        </m:sSup>
                      </m:e>
                    </m:nary>
                  </m:oMath>
                </a14:m>
                <a:r>
                  <a:rPr lang="en-GB" sz="2800" dirty="0"/>
                  <a:t> 	[</a:t>
                </a:r>
                <a:r>
                  <a:rPr lang="en-GB" sz="2800" dirty="0" err="1"/>
                  <a:t>analisis</a:t>
                </a:r>
                <a:r>
                  <a:rPr lang="en-GB" sz="2800" dirty="0"/>
                  <a:t>]</a:t>
                </a:r>
              </a:p>
              <a:p>
                <a:pPr marL="0" indent="0" algn="ctr">
                  <a:buNone/>
                </a:pPr>
                <a:endParaRPr lang="en-GB" sz="2800" dirty="0"/>
              </a:p>
              <a:p>
                <a:pPr algn="just"/>
                <a:r>
                  <a:rPr lang="en-GB" sz="2800" i="1" dirty="0"/>
                  <a:t>Invers Discrete Fourier Transform </a:t>
                </a:r>
                <a:r>
                  <a:rPr lang="en-GB" sz="2800" dirty="0"/>
                  <a:t>(</a:t>
                </a:r>
                <a:r>
                  <a:rPr lang="en-GB" sz="2800" dirty="0" err="1"/>
                  <a:t>iDFT</a:t>
                </a:r>
                <a:r>
                  <a:rPr lang="en-GB" sz="2800" dirty="0"/>
                  <a:t>):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GB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𝑖𝑛𝑘</m:t>
                                </m:r>
                              </m:num>
                              <m:den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sup>
                        </m:sSup>
                      </m:e>
                    </m:nary>
                  </m:oMath>
                </a14:m>
                <a:r>
                  <a:rPr lang="en-GB" sz="2800" dirty="0"/>
                  <a:t>	 [</a:t>
                </a:r>
                <a:r>
                  <a:rPr lang="en-GB" sz="2800" dirty="0" err="1"/>
                  <a:t>sintesis</a:t>
                </a:r>
                <a:r>
                  <a:rPr lang="en-GB" sz="2800" dirty="0"/>
                  <a:t>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E35F9-5D7C-CAC4-7A96-A6E1F6C259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1197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E493-6426-BDFF-1387-7846CA29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Interpretasi</a:t>
            </a:r>
            <a:r>
              <a:rPr lang="en-GB" dirty="0"/>
              <a:t> DFT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393C60-AE9A-478C-47F7-303D3DE6B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GB" sz="2800" dirty="0"/>
                  <a:t>Perhatikan </a:t>
                </a:r>
                <a:r>
                  <a:rPr lang="en-GB" sz="2800" dirty="0" err="1"/>
                  <a:t>gambar</a:t>
                </a:r>
                <a:r>
                  <a:rPr lang="en-GB" sz="2800" dirty="0"/>
                  <a:t> </a:t>
                </a:r>
                <a:r>
                  <a:rPr lang="en-GB" sz="2800" dirty="0" err="1"/>
                  <a:t>lingkaran</a:t>
                </a:r>
                <a:r>
                  <a:rPr lang="en-GB" sz="2800" dirty="0"/>
                  <a:t> </a:t>
                </a:r>
                <a:r>
                  <a:rPr lang="en-GB" sz="2800" dirty="0" err="1"/>
                  <a:t>berikut</a:t>
                </a:r>
                <a:r>
                  <a:rPr lang="en-GB" sz="2800" dirty="0"/>
                  <a:t>: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:endParaRPr lang="en-GB" sz="2800" dirty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endParaRPr lang="en-GB" sz="2800" dirty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endParaRPr lang="en-GB" sz="2800" dirty="0"/>
              </a:p>
              <a:p>
                <a:pPr algn="just">
                  <a:lnSpc>
                    <a:spcPct val="110000"/>
                  </a:lnSpc>
                </a:pPr>
                <a:r>
                  <a:rPr lang="en-GB" sz="2800" dirty="0"/>
                  <a:t>Nilai magnitude </a:t>
                </a:r>
                <a:r>
                  <a:rPr lang="en-GB" sz="2800" dirty="0" err="1"/>
                  <a:t>dari</a:t>
                </a:r>
                <a:r>
                  <a:rPr lang="en-GB" sz="2800" dirty="0"/>
                  <a:t> </a:t>
                </a:r>
                <a:r>
                  <a:rPr lang="en-GB" sz="2800" dirty="0" err="1"/>
                  <a:t>bilangan</a:t>
                </a:r>
                <a:r>
                  <a:rPr lang="en-GB" sz="2800" dirty="0"/>
                  <a:t> </a:t>
                </a:r>
                <a:r>
                  <a:rPr lang="en-GB" sz="2800" dirty="0" err="1"/>
                  <a:t>kompleks</a:t>
                </a:r>
                <a:r>
                  <a:rPr lang="en-GB" sz="2800" dirty="0"/>
                  <a:t> </a:t>
                </a:r>
                <a:r>
                  <a:rPr lang="en-GB" sz="2800" dirty="0" err="1"/>
                  <a:t>adalah</a:t>
                </a:r>
                <a:r>
                  <a:rPr lang="en-GB" sz="2800" dirty="0"/>
                  <a:t> 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sz="2800" dirty="0"/>
              </a:p>
              <a:p>
                <a:pPr algn="just">
                  <a:lnSpc>
                    <a:spcPct val="110000"/>
                  </a:lnSpc>
                </a:pPr>
                <a:r>
                  <a:rPr lang="en-GB" sz="2800" dirty="0"/>
                  <a:t>Nilai </a:t>
                </a:r>
                <a:r>
                  <a:rPr lang="en-GB" sz="2800" dirty="0" err="1"/>
                  <a:t>fase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2800" dirty="0"/>
                  <a:t> </a:t>
                </a:r>
                <a:r>
                  <a:rPr lang="en-GB" sz="2800" dirty="0" err="1"/>
                  <a:t>dari</a:t>
                </a:r>
                <a:r>
                  <a:rPr lang="en-GB" sz="2800" dirty="0"/>
                  <a:t> </a:t>
                </a:r>
                <a:r>
                  <a:rPr lang="en-GB" sz="2800" dirty="0" err="1"/>
                  <a:t>gelombang</a:t>
                </a:r>
                <a:r>
                  <a:rPr lang="en-GB" sz="2800" dirty="0"/>
                  <a:t> </a:t>
                </a:r>
                <a:r>
                  <a:rPr lang="en-GB" sz="2800" dirty="0" err="1"/>
                  <a:t>adalah</a:t>
                </a:r>
                <a:r>
                  <a:rPr lang="en-GB" sz="2800" dirty="0"/>
                  <a:t> 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GB" sz="2800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393C60-AE9A-478C-47F7-303D3DE6B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CC208A6-F131-1BA7-A03F-EA20CB5EF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242" y="365125"/>
            <a:ext cx="3007858" cy="310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70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31E9-1B66-6141-4C3D-0C1EB515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Deret</a:t>
            </a:r>
            <a:r>
              <a:rPr lang="en-US" dirty="0"/>
              <a:t> Fourier (</a:t>
            </a:r>
            <a:r>
              <a:rPr lang="en-US" dirty="0" err="1"/>
              <a:t>Lanjutan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4A839-4130-A2BD-97DA-68483131D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000" dirty="0"/>
                  <a:t>Deret Fourier (Fourier Series): 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r>
                  <a:rPr lang="en-GB" sz="2000" dirty="0" err="1"/>
                  <a:t>Deret</a:t>
                </a:r>
                <a:r>
                  <a:rPr lang="en-GB" sz="2000" dirty="0"/>
                  <a:t> Fourier </a:t>
                </a:r>
                <a:r>
                  <a:rPr lang="en-GB" sz="2000" dirty="0" err="1"/>
                  <a:t>Bil</a:t>
                </a:r>
                <a:r>
                  <a:rPr lang="en-GB" sz="2000" dirty="0"/>
                  <a:t>. </a:t>
                </a:r>
                <a:r>
                  <a:rPr lang="en-GB" sz="2000" dirty="0" err="1"/>
                  <a:t>Kompleks</a:t>
                </a:r>
                <a:r>
                  <a:rPr lang="en-GB" sz="2000" dirty="0"/>
                  <a:t> (Fourier Complex Series):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𝑛𝐹𝑡</m:t>
                            </m:r>
                          </m:sup>
                        </m:sSup>
                      </m:e>
                    </m:nary>
                  </m:oMath>
                </a14:m>
                <a:endParaRPr lang="en-GB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000" b="0" dirty="0"/>
                  <a:t>Jika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2000" dirty="0"/>
                  <a:t> </a:t>
                </a:r>
                <a:r>
                  <a:rPr lang="en-GB" sz="2000" dirty="0" err="1"/>
                  <a:t>bilangan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ril</a:t>
                </a:r>
                <a:r>
                  <a:rPr lang="en-GB" sz="2000" dirty="0"/>
                  <a:t>, </a:t>
                </a:r>
                <a:r>
                  <a:rPr lang="en-GB" sz="2000" dirty="0" err="1"/>
                  <a:t>maka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GB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000" dirty="0"/>
                  <a:t>Fourier Series (FS)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000" dirty="0"/>
                  <a:t> Complex Fourier Series (CFS): </a:t>
                </a:r>
                <a:endParaRPr lang="en-GB" sz="2000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∓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GB" sz="2000" b="0" dirty="0">
                  <a:ea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GB" sz="2000" dirty="0"/>
                  <a:t>CFS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000" dirty="0"/>
                  <a:t> FS: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4A839-4130-A2BD-97DA-68483131D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780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C9CF-C3E7-4148-BC46-DD1AB599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Contoh</a:t>
            </a:r>
            <a:r>
              <a:rPr lang="en-GB" dirty="0"/>
              <a:t>: </a:t>
            </a:r>
            <a:r>
              <a:rPr lang="en-GB" i="1" dirty="0"/>
              <a:t>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C6686-B9D6-4069-9E30-D8C054E117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0801"/>
                <a:ext cx="8858312" cy="5072074"/>
              </a:xfrm>
            </p:spPr>
            <p:txBody>
              <a:bodyPr/>
              <a:lstStyle/>
              <a:p>
                <a:r>
                  <a:rPr lang="en-GB" sz="2000" dirty="0"/>
                  <a:t>Sebuah </a:t>
                </a:r>
                <a:r>
                  <a:rPr lang="en-GB" sz="2000" dirty="0" err="1"/>
                  <a:t>sinyal</a:t>
                </a:r>
                <a:r>
                  <a:rPr lang="en-GB" sz="20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=2+2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+4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−2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 err="1"/>
                  <a:t>Dilakukan</a:t>
                </a:r>
                <a:r>
                  <a:rPr lang="en-GB" sz="2000" dirty="0"/>
                  <a:t> proses </a:t>
                </a:r>
                <a:r>
                  <a:rPr lang="en-GB" sz="2000" i="1" dirty="0"/>
                  <a:t>sampling</a:t>
                </a:r>
                <a:r>
                  <a:rPr lang="en-GB" sz="2000" dirty="0"/>
                  <a:t>, </a:t>
                </a:r>
                <a:r>
                  <a:rPr lang="en-GB" sz="2000" dirty="0" err="1"/>
                  <a:t>dengan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ketentuan</a:t>
                </a:r>
                <a:endParaRPr lang="en-GB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endParaRPr lang="en-GB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sz="2000" dirty="0"/>
                  <a:t> </a:t>
                </a:r>
                <a:r>
                  <a:rPr lang="en-GB" sz="2000" dirty="0" err="1"/>
                  <a:t>dimana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=0.1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sz="20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GB" sz="2000" dirty="0"/>
                  <a:t> </a:t>
                </a:r>
                <a:r>
                  <a:rPr lang="en-GB" sz="2000" dirty="0" err="1"/>
                  <a:t>sehinga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C6686-B9D6-4069-9E30-D8C054E117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0801"/>
                <a:ext cx="8858312" cy="5072074"/>
              </a:xfrm>
              <a:blipFill>
                <a:blip r:embed="rId2"/>
                <a:stretch>
                  <a:fillRect l="-619" t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714B258-AE81-4012-BE7A-0E6C85822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080" y="2200328"/>
            <a:ext cx="8460432" cy="219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55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E191-28D3-4189-91B0-0B454028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Contoh:Transformasi</a:t>
            </a:r>
            <a:r>
              <a:rPr lang="en-GB" dirty="0"/>
              <a:t> Fourier (</a:t>
            </a:r>
            <a:r>
              <a:rPr lang="en-GB" dirty="0" err="1"/>
              <a:t>Analisis</a:t>
            </a:r>
            <a:r>
              <a:rPr lang="en-GB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21FFDAD-A221-4334-9B2B-B64D4F7DB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0209" y="1579448"/>
                <a:ext cx="10311581" cy="1596169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GB" sz="2400" dirty="0"/>
                  <a:t>Hasil Sampling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4, 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4.0671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 7.5978, 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6.3618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 0.8310, 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 −0.0671, 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−3.5978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,−2.3618, 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3.1690</m:t>
                        </m:r>
                      </m:e>
                    </m:d>
                  </m:oMath>
                </a14:m>
                <a:r>
                  <a:rPr lang="en-GB" sz="2400" i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21FFDAD-A221-4334-9B2B-B64D4F7DB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0209" y="1579448"/>
                <a:ext cx="10311581" cy="1596169"/>
              </a:xfrm>
              <a:blipFill>
                <a:blip r:embed="rId2"/>
                <a:stretch>
                  <a:fillRect l="-887" t="-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F1B61E0-3267-42C6-8970-6CAA36A1D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776" y="2630332"/>
            <a:ext cx="8604448" cy="218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97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2381-2503-48E1-84FB-F4592B84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Contoh:Transformasi</a:t>
            </a:r>
            <a:r>
              <a:rPr lang="en-GB" dirty="0"/>
              <a:t> Fourier (</a:t>
            </a:r>
            <a:r>
              <a:rPr lang="en-GB" dirty="0" err="1"/>
              <a:t>Analisis</a:t>
            </a:r>
            <a:r>
              <a:rPr lang="en-GB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B2634B-1B57-4857-9B85-CCD3504078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/>
              <a:lstStyle/>
              <a:p>
                <a:r>
                  <a:rPr lang="en-GB" sz="2400" dirty="0"/>
                  <a:t>Hasil Sampling:</a:t>
                </a:r>
              </a:p>
              <a:p>
                <a:r>
                  <a:rPr lang="en-GB" sz="2400" dirty="0" err="1"/>
                  <a:t>Transformasi</a:t>
                </a:r>
                <a:r>
                  <a:rPr lang="en-GB" sz="2400" dirty="0"/>
                  <a:t> Fourier:</a:t>
                </a:r>
              </a:p>
              <a:p>
                <a:pPr marL="0" indent="0">
                  <a:buNone/>
                </a:pPr>
                <a:r>
                  <a:rPr lang="en-GB" sz="2400" dirty="0"/>
                  <a:t>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n-NO" sz="2400" i="1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,0, 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nn-NO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GB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nn-NO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2, </m:t>
                        </m:r>
                        <m:rad>
                          <m:radPr>
                            <m:degHide m:val="o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,0, 1, 0, 0, 0, 1, 0, </m:t>
                        </m:r>
                        <m:rad>
                          <m:radPr>
                            <m:degHide m:val="o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|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2, 2</m:t>
                        </m:r>
                        <m:rad>
                          <m:radPr>
                            <m:degHide m:val="on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,0,2,0</m:t>
                        </m:r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B2634B-1B57-4857-9B85-CCD3504078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2"/>
                <a:stretch>
                  <a:fillRect l="-752" t="-196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CBB41A-6800-417A-914F-AD48ACA71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724" y="4005065"/>
            <a:ext cx="4055237" cy="2181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17B6B6-D8D1-4439-A7B3-8F20BB692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348" y="4005065"/>
            <a:ext cx="4006509" cy="218192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D89E01B-F01C-4EB9-A473-00CF5AAA0F5C}"/>
              </a:ext>
            </a:extLst>
          </p:cNvPr>
          <p:cNvSpPr/>
          <p:nvPr/>
        </p:nvSpPr>
        <p:spPr>
          <a:xfrm>
            <a:off x="5879976" y="4941168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309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7BFC15-C538-C9DD-FAAA-D5B9E6B3C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69557"/>
                <a:ext cx="10515600" cy="570740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GB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,0, 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GB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GB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GB" sz="2800" dirty="0"/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𝑛𝐹𝑡</m:t>
                            </m:r>
                          </m:e>
                        </m:d>
                      </m:e>
                    </m:func>
                    <m:r>
                      <a:rPr lang="en-GB" sz="28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𝑛𝐹𝑡</m:t>
                            </m:r>
                          </m:e>
                        </m:d>
                      </m:e>
                    </m:func>
                  </m:oMath>
                </a14:m>
                <a:endParaRPr lang="en-GB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800" dirty="0"/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(2</m:t>
                        </m:r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)+</m:t>
                    </m:r>
                  </m:oMath>
                </a14:m>
                <a:endParaRPr lang="en-GB" sz="2800" dirty="0"/>
              </a:p>
              <a:p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=1−2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+1+2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800" dirty="0"/>
              </a:p>
              <a:p>
                <a:endParaRPr lang="en-GB" sz="2800" dirty="0"/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7BFC15-C538-C9DD-FAAA-D5B9E6B3C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69557"/>
                <a:ext cx="10515600" cy="570740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257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755E-C31E-4CDA-99B0-4F936CAC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Contoh</a:t>
            </a:r>
            <a:r>
              <a:rPr lang="en-GB" dirty="0"/>
              <a:t>: </a:t>
            </a:r>
            <a:r>
              <a:rPr lang="en-GB" dirty="0" err="1"/>
              <a:t>Sintesis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8627669-4090-461B-BBE0-5D1BFA77788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936644" y="1745884"/>
                <a:ext cx="5580988" cy="4454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600" dirty="0"/>
                  <a:t>Deret Fourier: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 err="1"/>
                  <a:t>Menjadi</a:t>
                </a:r>
                <a:endParaRPr lang="en-GB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𝑛𝐹𝑡</m:t>
                                  </m:r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 err="1"/>
                  <a:t>Dengan</a:t>
                </a:r>
                <a:r>
                  <a:rPr lang="en-GB" sz="1600" dirty="0"/>
                  <a:t> </a:t>
                </a:r>
                <a:endParaRPr lang="en-GB" sz="1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𝐼</m:t>
                        </m:r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sz="16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 dan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 err="1"/>
                  <a:t>Maka</a:t>
                </a:r>
                <a:r>
                  <a:rPr lang="en-GB" sz="1600" dirty="0"/>
                  <a:t> </a:t>
                </a:r>
                <a:r>
                  <a:rPr lang="en-GB" sz="1600" dirty="0" err="1"/>
                  <a:t>untuk</a:t>
                </a:r>
                <a:endParaRPr lang="en-GB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2, 2</m:t>
                          </m:r>
                          <m:rad>
                            <m:radPr>
                              <m:degHide m:val="on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,0,2,0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 err="1"/>
                  <a:t>Didapat</a:t>
                </a:r>
                <a:r>
                  <a:rPr lang="en-GB" sz="16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=4, 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GB" sz="1600" dirty="0"/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=−1.1071, 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=1.5708 </m:t>
                    </m:r>
                  </m:oMath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sehingga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=2+2</m:t>
                    </m:r>
                    <m:rad>
                      <m:radPr>
                        <m:degHide m:val="on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−1.1071</m:t>
                            </m:r>
                          </m:e>
                        </m:d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+1.5708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/>
                  <a:t> </a:t>
                </a:r>
              </a:p>
              <a:p>
                <a:pPr marL="0" indent="0"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8627669-4090-461B-BBE0-5D1BFA777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6644" y="1745884"/>
                <a:ext cx="5580988" cy="4454748"/>
              </a:xfrm>
              <a:prstGeom prst="rect">
                <a:avLst/>
              </a:prstGeom>
              <a:blipFill>
                <a:blip r:embed="rId2"/>
                <a:stretch>
                  <a:fillRect l="-656" t="-410" b="-28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7BC5EA-6C35-4D10-B9B9-D709B619D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6480" y="1988841"/>
            <a:ext cx="3643842" cy="19844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AD9E1D-A3DA-4027-B9A4-A2FBE2CC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814" y="4077073"/>
            <a:ext cx="3643843" cy="199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6954-341D-4707-96FB-2607AD9E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Contoh</a:t>
            </a:r>
            <a:r>
              <a:rPr lang="en-GB" dirty="0"/>
              <a:t>: </a:t>
            </a:r>
            <a:r>
              <a:rPr lang="en-GB" dirty="0" err="1"/>
              <a:t>Sintesis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C86C5-3E05-4CDA-8400-4D7F94A1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536260"/>
            <a:ext cx="9144000" cy="49566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FB5E9DB-959D-40B3-9C96-BA2D05624C49}"/>
                  </a:ext>
                </a:extLst>
              </p:cNvPr>
              <p:cNvSpPr/>
              <p:nvPr/>
            </p:nvSpPr>
            <p:spPr>
              <a:xfrm>
                <a:off x="5807968" y="2450710"/>
                <a:ext cx="4896544" cy="33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=2+2</m:t>
                    </m:r>
                    <m:rad>
                      <m:radPr>
                        <m:degHide m:val="on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−1.1071</m:t>
                            </m:r>
                          </m:e>
                        </m:d>
                      </m:e>
                    </m:func>
                    <m:r>
                      <a:rPr lang="en-GB" sz="1400" i="1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𝐹𝑡</m:t>
                            </m:r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+1.5708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400" dirty="0"/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FB5E9DB-959D-40B3-9C96-BA2D05624C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68" y="2450710"/>
                <a:ext cx="4896544" cy="330219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71739EE-E25C-4FB2-9C24-45FB2A2EB702}"/>
                  </a:ext>
                </a:extLst>
              </p:cNvPr>
              <p:cNvSpPr/>
              <p:nvPr/>
            </p:nvSpPr>
            <p:spPr>
              <a:xfrm>
                <a:off x="1487488" y="2473152"/>
                <a:ext cx="4572000" cy="3077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=2+2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+4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−2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𝐹𝑡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71739EE-E25C-4FB2-9C24-45FB2A2EB7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2473152"/>
                <a:ext cx="4572000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078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43B6-F762-BDFA-3214-B9B465B3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15878-749B-057C-15A6-D766AE5FEE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−25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GB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10+25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GB" sz="28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1−2.5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n-NO" sz="28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GB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n-NO" sz="2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n-NO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1+2.5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GB" sz="2800" dirty="0"/>
                  <a:t> </a:t>
                </a: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Double side magnitude:</a:t>
                </a:r>
                <a:endParaRPr lang="en-US" sz="2800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2, 0,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,1, 0, 0, 0, 1,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800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800" b="0" dirty="0">
                    <a:latin typeface="Cambria Math" panose="02040503050406030204" pitchFamily="18" charset="0"/>
                  </a:rPr>
                  <a:t>Single side magnitude: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2, 0, 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,2,0,0</m:t>
                        </m:r>
                      </m:e>
                    </m:d>
                  </m:oMath>
                </a14:m>
                <a:r>
                  <a:rPr lang="en-GB" sz="2800" dirty="0"/>
                  <a:t> 	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15878-749B-057C-15A6-D766AE5FEE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3093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4BFC-C904-4F1B-9D8C-73E7C502C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Latihan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7B5964-ADCE-42D9-A2D5-D1A78E7970C6}"/>
              </a:ext>
            </a:extLst>
          </p:cNvPr>
          <p:cNvSpPr/>
          <p:nvPr/>
        </p:nvSpPr>
        <p:spPr>
          <a:xfrm>
            <a:off x="838200" y="1397675"/>
            <a:ext cx="59850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%Signal Sampling fit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Fs = 8;   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%Sampling Frequency 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T  = 1/Fs;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%Sampling Period 1 sec for number of Fs</a:t>
            </a:r>
          </a:p>
          <a:p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L  = 1*Fs;      </a:t>
            </a:r>
            <a:r>
              <a:rPr lang="en-GB" dirty="0">
                <a:solidFill>
                  <a:srgbClr val="228B22"/>
                </a:solidFill>
                <a:latin typeface="Courier New" panose="02070309020205020404" pitchFamily="49" charset="0"/>
              </a:rPr>
              <a:t>%Length of Signal</a:t>
            </a: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t  = (0:L-1)*T; </a:t>
            </a:r>
            <a:r>
              <a:rPr lang="fr-FR" dirty="0">
                <a:solidFill>
                  <a:srgbClr val="228B22"/>
                </a:solidFill>
                <a:latin typeface="Courier New" panose="02070309020205020404" pitchFamily="49" charset="0"/>
              </a:rPr>
              <a:t>%Time </a:t>
            </a:r>
            <a:r>
              <a:rPr lang="fr-FR" dirty="0" err="1">
                <a:solidFill>
                  <a:srgbClr val="228B22"/>
                </a:solidFill>
                <a:latin typeface="Courier New" panose="02070309020205020404" pitchFamily="49" charset="0"/>
              </a:rPr>
              <a:t>Vector</a:t>
            </a:r>
            <a:endParaRPr lang="fr-FR" dirty="0">
              <a:solidFill>
                <a:srgbClr val="228B22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228B22"/>
                </a:solidFill>
                <a:latin typeface="Courier New" panose="02070309020205020404" pitchFamily="49" charset="0"/>
              </a:rPr>
              <a:t>Lakukan</a:t>
            </a:r>
            <a:r>
              <a:rPr lang="fr-FR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228B22"/>
                </a:solidFill>
                <a:latin typeface="Courier New" panose="02070309020205020404" pitchFamily="49" charset="0"/>
              </a:rPr>
              <a:t>analisis</a:t>
            </a:r>
            <a:r>
              <a:rPr lang="fr-FR" dirty="0">
                <a:solidFill>
                  <a:srgbClr val="228B22"/>
                </a:solidFill>
                <a:latin typeface="Courier New" panose="02070309020205020404" pitchFamily="49" charset="0"/>
              </a:rPr>
              <a:t> dan </a:t>
            </a:r>
            <a:r>
              <a:rPr lang="fr-FR" dirty="0" err="1">
                <a:solidFill>
                  <a:srgbClr val="228B22"/>
                </a:solidFill>
                <a:latin typeface="Courier New" panose="02070309020205020404" pitchFamily="49" charset="0"/>
              </a:rPr>
              <a:t>sintesis</a:t>
            </a:r>
            <a:r>
              <a:rPr lang="fr-FR" dirty="0">
                <a:solidFill>
                  <a:srgbClr val="228B22"/>
                </a:solidFill>
                <a:latin typeface="Courier New" panose="02070309020205020404" pitchFamily="49" charset="0"/>
              </a:rPr>
              <a:t> Fourier-</a:t>
            </a:r>
            <a:r>
              <a:rPr lang="fr-FR" dirty="0" err="1">
                <a:solidFill>
                  <a:srgbClr val="228B22"/>
                </a:solidFill>
                <a:latin typeface="Courier New" panose="02070309020205020404" pitchFamily="49" charset="0"/>
              </a:rPr>
              <a:t>nya</a:t>
            </a:r>
            <a:r>
              <a:rPr lang="fr-FR" dirty="0">
                <a:solidFill>
                  <a:srgbClr val="228B22"/>
                </a:solidFill>
                <a:latin typeface="Courier New" panose="02070309020205020404" pitchFamily="49" charset="0"/>
              </a:rPr>
              <a:t>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5DBCD4-9743-4CB1-B6F8-A41638E12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277" y="3529645"/>
            <a:ext cx="6722500" cy="1153802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E551A05B-22D6-62C8-B0D6-158C7D449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3529645"/>
            <a:ext cx="4087761" cy="318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76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9C41-D008-D65A-254B-23F42B43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3068105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815</Words>
  <Application>Microsoft Office PowerPoint</Application>
  <PresentationFormat>Widescreen</PresentationFormat>
  <Paragraphs>139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Fourier Transform (Theory)</vt:lpstr>
      <vt:lpstr>Periodic Function</vt:lpstr>
      <vt:lpstr>Square Wave</vt:lpstr>
      <vt:lpstr>PowerPoint Presentation</vt:lpstr>
      <vt:lpstr>Frekuensi = 2 → sin⁡(2π2Ft) (periode T=2 sec)</vt:lpstr>
      <vt:lpstr>N=1000</vt:lpstr>
      <vt:lpstr>Sawtooth Wave</vt:lpstr>
      <vt:lpstr>Sawtooth Wave</vt:lpstr>
      <vt:lpstr>N=10</vt:lpstr>
      <vt:lpstr>Deret Fourier</vt:lpstr>
      <vt:lpstr>Transformasi Fourier</vt:lpstr>
      <vt:lpstr>Time vs Frequency Domain</vt:lpstr>
      <vt:lpstr>Time vs Frequency Domain</vt:lpstr>
      <vt:lpstr>Transformasi Fourier</vt:lpstr>
      <vt:lpstr>Transformasi Fourier Diskrit (DFT)</vt:lpstr>
      <vt:lpstr>Interpretasi DFT</vt:lpstr>
      <vt:lpstr>Deret Fourier (Lanjutan)</vt:lpstr>
      <vt:lpstr>Contoh: Sampling</vt:lpstr>
      <vt:lpstr>Contoh:Transformasi Fourier (Analisis)</vt:lpstr>
      <vt:lpstr>Contoh:Transformasi Fourier (Analisis)</vt:lpstr>
      <vt:lpstr>PowerPoint Presentation</vt:lpstr>
      <vt:lpstr>Contoh: Sintesis</vt:lpstr>
      <vt:lpstr>Contoh: Sintesis</vt:lpstr>
      <vt:lpstr>PowerPoint Presentation</vt:lpstr>
      <vt:lpstr>Latihan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 Transform</dc:title>
  <dc:creator>aderry</dc:creator>
  <cp:lastModifiedBy>rina112211</cp:lastModifiedBy>
  <cp:revision>38</cp:revision>
  <dcterms:created xsi:type="dcterms:W3CDTF">2023-04-27T22:31:47Z</dcterms:created>
  <dcterms:modified xsi:type="dcterms:W3CDTF">2025-04-21T06:42:32Z</dcterms:modified>
</cp:coreProperties>
</file>