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80" r:id="rId4"/>
    <p:sldId id="281" r:id="rId5"/>
    <p:sldId id="283" r:id="rId6"/>
    <p:sldId id="284" r:id="rId7"/>
    <p:sldId id="285" r:id="rId8"/>
    <p:sldId id="286" r:id="rId9"/>
    <p:sldId id="287" r:id="rId10"/>
    <p:sldId id="278" r:id="rId11"/>
    <p:sldId id="288" r:id="rId12"/>
    <p:sldId id="279" r:id="rId13"/>
    <p:sldId id="268" r:id="rId14"/>
    <p:sldId id="270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73" r:id="rId23"/>
    <p:sldId id="296" r:id="rId24"/>
    <p:sldId id="303" r:id="rId25"/>
    <p:sldId id="304" r:id="rId26"/>
    <p:sldId id="297" r:id="rId27"/>
    <p:sldId id="305" r:id="rId28"/>
    <p:sldId id="272" r:id="rId29"/>
    <p:sldId id="298" r:id="rId30"/>
    <p:sldId id="306" r:id="rId31"/>
    <p:sldId id="275" r:id="rId32"/>
    <p:sldId id="276" r:id="rId33"/>
    <p:sldId id="299" r:id="rId34"/>
    <p:sldId id="300" r:id="rId35"/>
    <p:sldId id="301" r:id="rId36"/>
    <p:sldId id="302" r:id="rId37"/>
    <p:sldId id="307" r:id="rId38"/>
    <p:sldId id="308" r:id="rId39"/>
    <p:sldId id="309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1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1F5C8-48F5-A9ED-F0B0-F5E39E960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33BFBB-892B-F8D0-623D-6D22B805A7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C68CE-9AEF-BF21-93FF-F3A905A93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C0CD1-173B-4428-840C-21C8C49DA8FC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88533-3A39-30B7-C1F5-8EFF543E5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C726B-9C46-4093-27AD-5721F06D0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F87D4-898B-450F-87D8-AE5EF287E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030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E8AEB-8C40-0087-AF67-CB4FA710D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AC828-1411-8F7F-FAB6-31FD8566F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D4FD6-E316-DC02-5DBE-0CC15338A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C0CD1-173B-4428-840C-21C8C49DA8FC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8F636-1CD3-E2BD-EE34-6C3994F2C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36EA-FADE-D7A3-6C43-F541AFFC4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F87D4-898B-450F-87D8-AE5EF287E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013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ADD33-25AE-0148-C9EA-43C866950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5DC5F6-6576-CCFA-5A1C-B05CE2563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5AC40-4EA4-630A-85B6-4C7861DD3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C0CD1-173B-4428-840C-21C8C49DA8FC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A0F87-41BE-F753-90E6-B2F7F968A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69546-1C64-CC8C-B296-2404A75D7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F87D4-898B-450F-87D8-AE5EF287E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039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37B42-A286-62EC-5CBF-28B0F5680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14075-D151-D0CF-AB39-F4530B164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68441D-1723-9AF2-FAB5-D4995C367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BD789C-8942-E58E-F1F7-6CCE4FC48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C0CD1-173B-4428-840C-21C8C49DA8FC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158A40-81B5-392B-CEEE-1A4F70053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5291F2-2497-4AEA-30AB-B0916B2A5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F87D4-898B-450F-87D8-AE5EF287E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97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BE147-AD75-84AA-EFAD-2CAB16023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DD725-A8E1-88E2-585A-4AA5D2B41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7DCA1-6993-ADD3-DD0B-90D319F4DB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26F149-AD18-1147-7316-B68791769D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868D4E-B9BA-B50C-BB6C-3253ABBBAB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596AC9-8CF7-862B-E70E-31621ED90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C0CD1-173B-4428-840C-21C8C49DA8FC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34FBA2-54CD-4CCA-DBDD-EB44F355D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D10239-A7AE-D7E4-943D-D04E77924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F87D4-898B-450F-87D8-AE5EF287E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353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28689-CE27-DCF9-6A14-8972B3AEC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F88481-277C-46B8-6D96-31D0B100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C0CD1-173B-4428-840C-21C8C49DA8FC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511DBA-0304-C667-DFE8-9B798AFEB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C17272-5AFC-7D2A-BBA8-635A9279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F87D4-898B-450F-87D8-AE5EF287E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695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5DFAF8-D877-B75A-9BFD-1EF39F5A4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C0CD1-173B-4428-840C-21C8C49DA8FC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018623-84CE-FBA4-F958-C559EC14C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20075-61BC-2A51-A8AE-41D0D6027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F87D4-898B-450F-87D8-AE5EF287E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0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95162-B307-3291-C5A5-3BBDE91D4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B7A36-0BC1-5F16-A08F-7764862EA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89A228-C61B-1F8B-6F67-9379F1DC0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84E81-4940-CECF-F561-F0B4D6037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C0CD1-173B-4428-840C-21C8C49DA8FC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A1E110-6399-C3F6-3907-21F84D331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01E304-BFD7-7F34-5C3F-875B068D8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F87D4-898B-450F-87D8-AE5EF287E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077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C3E71-9167-84AD-8970-283707DAC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881BE1-9BE7-32C2-A29D-BF288E2E5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184D58-7811-B366-C311-D58057F96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8F480C-A820-5E26-D226-715109797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C0CD1-173B-4428-840C-21C8C49DA8FC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74AEA0-7115-7012-B58C-AC95DFAB8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44EFC3-4E50-9BF6-AF7D-3CA959670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F87D4-898B-450F-87D8-AE5EF287E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709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F73E-34A7-2325-43B1-DFDF47CED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8CA3A9-B155-F45E-4AC0-89A9D30C3D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93A88-7001-C990-AB7F-7EF50CEF5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C0CD1-173B-4428-840C-21C8C49DA8FC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D4C83-9449-B96B-CA4A-30AD847FA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08279-07F6-61E5-7467-00740469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F87D4-898B-450F-87D8-AE5EF287E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79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864957-69F5-B3FD-131C-11047680CE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CC7EE-C156-F9EE-E11F-BD366AC11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2E690-825B-CFF8-DD97-E345B58CD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C0CD1-173B-4428-840C-21C8C49DA8FC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699DB-1B91-C09D-5EB9-05CED8481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72093-9655-4300-71B6-712885ED8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F87D4-898B-450F-87D8-AE5EF287E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21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40A539-6026-A9E0-A20A-9375722AB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F4C2B-B700-493B-C1E4-2B03ECE6F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7748-7847-1911-CDA8-40F5E6472F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CC0CD1-173B-4428-840C-21C8C49DA8FC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FBA6E-3299-E2B1-39B9-CE722F522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010FB-8CEA-B052-DA9F-CE02201B08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F87D4-898B-450F-87D8-AE5EF287E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33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F6B74-30A9-CF42-F40E-1603281562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Fourier Transform (Practical)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04FBF6-BD12-0E3D-23E0-4D76AECA7F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Image Processing</a:t>
            </a:r>
          </a:p>
        </p:txBody>
      </p:sp>
    </p:spTree>
    <p:extLst>
      <p:ext uri="{BB962C8B-B14F-4D97-AF65-F5344CB8AC3E}">
        <p14:creationId xmlns:p14="http://schemas.microsoft.com/office/powerpoint/2010/main" val="2373642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F96F8B4D-023A-4C9F-835D-CBB1ADD26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1563"/>
            <a:ext cx="8875712" cy="571500"/>
          </a:xfrm>
        </p:spPr>
        <p:txBody>
          <a:bodyPr>
            <a:normAutofit fontScale="90000"/>
          </a:bodyPr>
          <a:lstStyle/>
          <a:p>
            <a:r>
              <a:rPr lang="en-GB" altLang="en-US" dirty="0">
                <a:ea typeface="Cambria Math" panose="02040503050406030204" pitchFamily="18" charset="0"/>
                <a:cs typeface="Cambria Math" panose="02040503050406030204" pitchFamily="18" charset="0"/>
              </a:rPr>
              <a:t>Sampling Signal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65A8B-8A5C-4948-97A1-9E29018E66A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>
            <a:blip r:embed="rId2"/>
            <a:stretch>
              <a:fillRect l="-1719" t="-1607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1211A-05B2-4699-86AB-4EBDBFE44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Sampling Signal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218C5A7-E3E8-4A2E-B5A9-11F1B63B1C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6875" y="1868860"/>
            <a:ext cx="8858250" cy="476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418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26DC0-FE93-4655-812A-263C3CDB4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Sampling Signal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0B57D2-6166-4093-BE21-EDF3CB2038BD}"/>
              </a:ext>
            </a:extLst>
          </p:cNvPr>
          <p:cNvSpPr/>
          <p:nvPr/>
        </p:nvSpPr>
        <p:spPr>
          <a:xfrm>
            <a:off x="391828" y="1570510"/>
            <a:ext cx="6715156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clear; </a:t>
            </a:r>
            <a:r>
              <a:rPr lang="en-GB" dirty="0" err="1">
                <a:solidFill>
                  <a:srgbClr val="000000"/>
                </a:solidFill>
                <a:latin typeface="Courier New" panose="02070309020205020404" pitchFamily="49" charset="0"/>
              </a:rPr>
              <a:t>clc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GB" dirty="0">
                <a:solidFill>
                  <a:srgbClr val="228B22"/>
                </a:solidFill>
                <a:latin typeface="Courier New" panose="02070309020205020404" pitchFamily="49" charset="0"/>
              </a:rPr>
              <a:t>%signal sampling fit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Fs = 10;        </a:t>
            </a:r>
            <a:r>
              <a:rPr lang="en-GB" dirty="0">
                <a:solidFill>
                  <a:srgbClr val="228B22"/>
                </a:solidFill>
                <a:latin typeface="Courier New" panose="02070309020205020404" pitchFamily="49" charset="0"/>
              </a:rPr>
              <a:t>%Sampling rate (Hz)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dt = 1/Fs;      </a:t>
            </a:r>
            <a:r>
              <a:rPr lang="en-GB" dirty="0">
                <a:solidFill>
                  <a:srgbClr val="228B22"/>
                </a:solidFill>
                <a:latin typeface="Courier New" panose="02070309020205020404" pitchFamily="49" charset="0"/>
              </a:rPr>
              <a:t>%delta t (time(s)) 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N  = 2*Fs;      </a:t>
            </a:r>
            <a:r>
              <a:rPr lang="en-GB" dirty="0">
                <a:solidFill>
                  <a:srgbClr val="228B22"/>
                </a:solidFill>
                <a:latin typeface="Courier New" panose="02070309020205020404" pitchFamily="49" charset="0"/>
              </a:rPr>
              <a:t>%Sampling number 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t  = (0:N-1)*dt; </a:t>
            </a:r>
            <a:r>
              <a:rPr lang="en-GB" dirty="0">
                <a:solidFill>
                  <a:srgbClr val="228B22"/>
                </a:solidFill>
                <a:latin typeface="Courier New" panose="02070309020205020404" pitchFamily="49" charset="0"/>
              </a:rPr>
              <a:t>%time(s)</a:t>
            </a:r>
          </a:p>
          <a:p>
            <a:r>
              <a:rPr lang="en-GB" dirty="0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GB" dirty="0">
                <a:solidFill>
                  <a:srgbClr val="228B22"/>
                </a:solidFill>
                <a:latin typeface="Courier New" panose="02070309020205020404" pitchFamily="49" charset="0"/>
              </a:rPr>
              <a:t>%The signal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A = 1;        </a:t>
            </a:r>
            <a:r>
              <a:rPr lang="en-GB" dirty="0">
                <a:solidFill>
                  <a:srgbClr val="228B22"/>
                </a:solidFill>
                <a:latin typeface="Courier New" panose="02070309020205020404" pitchFamily="49" charset="0"/>
              </a:rPr>
              <a:t>%Amplitude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n = 1;        </a:t>
            </a:r>
            <a:r>
              <a:rPr lang="en-GB" dirty="0">
                <a:solidFill>
                  <a:srgbClr val="228B22"/>
                </a:solidFill>
                <a:latin typeface="Courier New" panose="02070309020205020404" pitchFamily="49" charset="0"/>
              </a:rPr>
              <a:t>%scale of Frequency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F = 0.5;      </a:t>
            </a:r>
            <a:r>
              <a:rPr lang="en-GB" dirty="0">
                <a:solidFill>
                  <a:srgbClr val="228B22"/>
                </a:solidFill>
                <a:latin typeface="Courier New" panose="02070309020205020404" pitchFamily="49" charset="0"/>
              </a:rPr>
              <a:t>%Frequency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theta = 0*pi; </a:t>
            </a:r>
            <a:r>
              <a:rPr lang="en-GB" dirty="0">
                <a:solidFill>
                  <a:srgbClr val="228B22"/>
                </a:solidFill>
                <a:latin typeface="Courier New" panose="02070309020205020404" pitchFamily="49" charset="0"/>
              </a:rPr>
              <a:t>%phase</a:t>
            </a:r>
          </a:p>
          <a:p>
            <a:r>
              <a:rPr lang="en-GB" dirty="0" err="1">
                <a:solidFill>
                  <a:srgbClr val="000000"/>
                </a:solidFill>
                <a:latin typeface="Courier New" panose="02070309020205020404" pitchFamily="49" charset="0"/>
              </a:rPr>
              <a:t>xt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 = A*sin(2*pi*n*F*t + theta);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stem(t, </a:t>
            </a:r>
            <a:r>
              <a:rPr lang="en-GB" dirty="0" err="1">
                <a:solidFill>
                  <a:srgbClr val="000000"/>
                </a:solidFill>
                <a:latin typeface="Courier New" panose="02070309020205020404" pitchFamily="49" charset="0"/>
              </a:rPr>
              <a:t>xt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); hold </a:t>
            </a:r>
            <a:r>
              <a:rPr lang="en-GB" dirty="0">
                <a:solidFill>
                  <a:srgbClr val="A020F0"/>
                </a:solidFill>
                <a:latin typeface="Courier New" panose="02070309020205020404" pitchFamily="49" charset="0"/>
              </a:rPr>
              <a:t>on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; plot(t, </a:t>
            </a:r>
            <a:r>
              <a:rPr lang="en-GB" dirty="0" err="1">
                <a:solidFill>
                  <a:srgbClr val="000000"/>
                </a:solidFill>
                <a:latin typeface="Courier New" panose="02070309020205020404" pitchFamily="49" charset="0"/>
              </a:rPr>
              <a:t>xt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GB" dirty="0" err="1">
                <a:solidFill>
                  <a:srgbClr val="000000"/>
                </a:solidFill>
                <a:latin typeface="Courier New" panose="02070309020205020404" pitchFamily="49" charset="0"/>
              </a:rPr>
              <a:t>xlabel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GB" dirty="0">
                <a:solidFill>
                  <a:srgbClr val="A020F0"/>
                </a:solidFill>
                <a:latin typeface="Courier New" panose="02070309020205020404" pitchFamily="49" charset="0"/>
              </a:rPr>
              <a:t>'Time (s)'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GB" dirty="0" err="1">
                <a:solidFill>
                  <a:srgbClr val="000000"/>
                </a:solidFill>
                <a:latin typeface="Courier New" panose="02070309020205020404" pitchFamily="49" charset="0"/>
              </a:rPr>
              <a:t>ylabel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GB" dirty="0">
                <a:solidFill>
                  <a:srgbClr val="A020F0"/>
                </a:solidFill>
                <a:latin typeface="Courier New" panose="02070309020205020404" pitchFamily="49" charset="0"/>
              </a:rPr>
              <a:t>'Amplitude'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</p:txBody>
      </p:sp>
      <p:pic>
        <p:nvPicPr>
          <p:cNvPr id="3" name="Picture 2" descr="Hasil gambar untuk sampling frequency">
            <a:extLst>
              <a:ext uri="{FF2B5EF4-FFF2-40B4-BE49-F238E27FC236}">
                <a16:creationId xmlns:a16="http://schemas.microsoft.com/office/drawing/2014/main" id="{3A0F1542-204B-A293-74B0-EEE53834B62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9570" y="225795"/>
            <a:ext cx="5854079" cy="3435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C930E923-43E3-52FD-8BEA-134AFFBDA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562" y="3689624"/>
            <a:ext cx="5745860" cy="3089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1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127CC-1092-4095-A900-C283A16E1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Deret</a:t>
            </a:r>
            <a:r>
              <a:rPr lang="en-GB" dirty="0"/>
              <a:t> Fourier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969807-4A48-4954-BAC2-6AF18D9A68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/>
                <a:r>
                  <a:rPr lang="en-GB" sz="2400" dirty="0"/>
                  <a:t>Sebuah </a:t>
                </a:r>
                <a:r>
                  <a:rPr lang="en-GB" sz="2400" dirty="0" err="1"/>
                  <a:t>fungsi</a:t>
                </a:r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sz="2400" dirty="0"/>
                  <a:t> </a:t>
                </a:r>
                <a:r>
                  <a:rPr lang="en-GB" sz="2400" dirty="0" err="1"/>
                  <a:t>dapat</a:t>
                </a:r>
                <a:r>
                  <a:rPr lang="en-GB" sz="2400" dirty="0"/>
                  <a:t> </a:t>
                </a:r>
                <a:r>
                  <a:rPr lang="en-GB" sz="2400" dirty="0" err="1"/>
                  <a:t>dinyatakan</a:t>
                </a:r>
                <a:r>
                  <a:rPr lang="en-GB" sz="2400" dirty="0"/>
                  <a:t> </a:t>
                </a:r>
                <a:r>
                  <a:rPr lang="en-GB" sz="2400" dirty="0" err="1"/>
                  <a:t>sebagai</a:t>
                </a:r>
                <a:r>
                  <a:rPr lang="en-GB" sz="2400" dirty="0"/>
                  <a:t> </a:t>
                </a:r>
                <a:r>
                  <a:rPr lang="en-GB" sz="2400" dirty="0" err="1"/>
                  <a:t>deret</a:t>
                </a:r>
                <a:r>
                  <a:rPr lang="en-GB" sz="2400" dirty="0"/>
                  <a:t> </a:t>
                </a:r>
                <a:r>
                  <a:rPr lang="en-GB" sz="2400" dirty="0" err="1"/>
                  <a:t>dari</a:t>
                </a:r>
                <a:r>
                  <a:rPr lang="en-GB" sz="2400" dirty="0"/>
                  <a:t> sinus dan </a:t>
                </a:r>
                <a:r>
                  <a:rPr lang="en-GB" sz="2400" dirty="0" err="1"/>
                  <a:t>kosinus</a:t>
                </a:r>
                <a:r>
                  <a:rPr lang="en-GB" sz="2400" dirty="0"/>
                  <a:t>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𝑛𝐹𝑡</m:t>
                              </m:r>
                            </m:e>
                          </m:d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𝑛𝐹𝑡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2400" dirty="0"/>
              </a:p>
              <a:p>
                <a:pPr algn="just"/>
                <a:r>
                  <a:rPr lang="en-GB" sz="2400" dirty="0" err="1"/>
                  <a:t>Dimana</a:t>
                </a:r>
                <a:endParaRPr lang="en-GB" sz="24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  <m:r>
                        <a:rPr lang="en-GB" sz="2400" i="1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GB" sz="24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𝑛𝐹𝑡</m:t>
                              </m:r>
                            </m:e>
                          </m:d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GB" sz="24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𝑛𝐹𝑡</m:t>
                              </m:r>
                            </m:e>
                          </m:d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GB" sz="2400" dirty="0"/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=1,2,3,…</m:t>
                    </m:r>
                  </m:oMath>
                </a14:m>
                <a:r>
                  <a:rPr lang="en-GB" sz="2400" dirty="0"/>
                  <a:t> </a:t>
                </a:r>
              </a:p>
              <a:p>
                <a:pPr marL="0" indent="0" algn="just"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969807-4A48-4954-BAC2-6AF18D9A68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6525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62AEA-0971-4C3D-8F79-A4F4DCA82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Fourier Series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C0D8993-ABEA-4965-ACA1-991D546550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6875" y="3853365"/>
            <a:ext cx="8858250" cy="12406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FAA9F8-C47E-4067-8B14-24302E45A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628801"/>
            <a:ext cx="9144000" cy="1144445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3F11FB03-1699-4760-B5E5-52C887BFDF63}"/>
              </a:ext>
            </a:extLst>
          </p:cNvPr>
          <p:cNvSpPr/>
          <p:nvPr/>
        </p:nvSpPr>
        <p:spPr>
          <a:xfrm>
            <a:off x="5447928" y="2845253"/>
            <a:ext cx="792088" cy="8640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Plus Sign 6">
            <a:extLst>
              <a:ext uri="{FF2B5EF4-FFF2-40B4-BE49-F238E27FC236}">
                <a16:creationId xmlns:a16="http://schemas.microsoft.com/office/drawing/2014/main" id="{184C4BF1-63EF-47D3-AF05-C8754BE1B4DE}"/>
              </a:ext>
            </a:extLst>
          </p:cNvPr>
          <p:cNvSpPr/>
          <p:nvPr/>
        </p:nvSpPr>
        <p:spPr>
          <a:xfrm>
            <a:off x="4439816" y="4229873"/>
            <a:ext cx="432048" cy="41558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lus Sign 7">
            <a:extLst>
              <a:ext uri="{FF2B5EF4-FFF2-40B4-BE49-F238E27FC236}">
                <a16:creationId xmlns:a16="http://schemas.microsoft.com/office/drawing/2014/main" id="{C4B5548B-E034-4D23-9A12-9796997347E3}"/>
              </a:ext>
            </a:extLst>
          </p:cNvPr>
          <p:cNvSpPr/>
          <p:nvPr/>
        </p:nvSpPr>
        <p:spPr>
          <a:xfrm>
            <a:off x="7428781" y="4228897"/>
            <a:ext cx="432048" cy="41558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F22D1DC-5D86-482B-AE99-84FBF2282370}"/>
                  </a:ext>
                </a:extLst>
              </p:cNvPr>
              <p:cNvSpPr/>
              <p:nvPr/>
            </p:nvSpPr>
            <p:spPr>
              <a:xfrm>
                <a:off x="3332820" y="1935861"/>
                <a:ext cx="552636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=2+2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𝐹𝑡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+4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𝐹𝑡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−2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𝐹𝑡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F22D1DC-5D86-482B-AE99-84FBF22823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2820" y="1935861"/>
                <a:ext cx="552636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F340DF37-782B-4E93-96E2-35B350EA7EB6}"/>
              </a:ext>
            </a:extLst>
          </p:cNvPr>
          <p:cNvSpPr/>
          <p:nvPr/>
        </p:nvSpPr>
        <p:spPr>
          <a:xfrm>
            <a:off x="1681564" y="5271538"/>
            <a:ext cx="5886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228B22"/>
                </a:solidFill>
                <a:latin typeface="Courier New" panose="02070309020205020404" pitchFamily="49" charset="0"/>
              </a:rPr>
              <a:t>%signal sampling fit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Fs = 50;        </a:t>
            </a:r>
            <a:r>
              <a:rPr lang="en-GB" dirty="0">
                <a:solidFill>
                  <a:srgbClr val="228B22"/>
                </a:solidFill>
                <a:latin typeface="Courier New" panose="02070309020205020404" pitchFamily="49" charset="0"/>
              </a:rPr>
              <a:t>%Sampling rate (Hz)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dt = 1/Fs;      </a:t>
            </a:r>
            <a:r>
              <a:rPr lang="en-GB" dirty="0">
                <a:solidFill>
                  <a:srgbClr val="228B22"/>
                </a:solidFill>
                <a:latin typeface="Courier New" panose="02070309020205020404" pitchFamily="49" charset="0"/>
              </a:rPr>
              <a:t>%delta t (time(s)) 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N  = 1*Fs;      </a:t>
            </a:r>
            <a:r>
              <a:rPr lang="en-GB" dirty="0">
                <a:solidFill>
                  <a:srgbClr val="228B22"/>
                </a:solidFill>
                <a:latin typeface="Courier New" panose="02070309020205020404" pitchFamily="49" charset="0"/>
              </a:rPr>
              <a:t>%Sampling number 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t  = (0:N-1)*dt; </a:t>
            </a:r>
            <a:r>
              <a:rPr lang="en-GB" dirty="0">
                <a:solidFill>
                  <a:srgbClr val="228B22"/>
                </a:solidFill>
                <a:latin typeface="Courier New" panose="02070309020205020404" pitchFamily="49" charset="0"/>
              </a:rPr>
              <a:t>%time(s)</a:t>
            </a:r>
          </a:p>
        </p:txBody>
      </p:sp>
    </p:spTree>
    <p:extLst>
      <p:ext uri="{BB962C8B-B14F-4D97-AF65-F5344CB8AC3E}">
        <p14:creationId xmlns:p14="http://schemas.microsoft.com/office/powerpoint/2010/main" val="1554735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791F1-DE52-4E41-B635-96A620849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Fourier Series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1B89F0-DB37-4224-8396-24CA26886138}"/>
              </a:ext>
            </a:extLst>
          </p:cNvPr>
          <p:cNvSpPr/>
          <p:nvPr/>
        </p:nvSpPr>
        <p:spPr>
          <a:xfrm>
            <a:off x="914400" y="1413063"/>
            <a:ext cx="91440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F = 1;</a:t>
            </a:r>
          </a:p>
          <a:p>
            <a:r>
              <a:rPr lang="fr-FR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xt</a:t>
            </a:r>
            <a:r>
              <a:rPr lang="fr-F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(1,:) =  2*cos(2*pi*F*t);</a:t>
            </a:r>
          </a:p>
          <a:p>
            <a:r>
              <a:rPr lang="da-DK" sz="1600" dirty="0">
                <a:solidFill>
                  <a:srgbClr val="000000"/>
                </a:solidFill>
                <a:latin typeface="Courier New" panose="02070309020205020404" pitchFamily="49" charset="0"/>
              </a:rPr>
              <a:t>xt(2,:) =  4*sin(2*pi*F*t);</a:t>
            </a:r>
          </a:p>
          <a:p>
            <a:r>
              <a:rPr lang="da-DK" sz="1600" dirty="0">
                <a:solidFill>
                  <a:srgbClr val="000000"/>
                </a:solidFill>
                <a:latin typeface="Courier New" panose="02070309020205020404" pitchFamily="49" charset="0"/>
              </a:rPr>
              <a:t>xt(3,:) = -2*sin(6*pi*F*t);</a:t>
            </a:r>
          </a:p>
          <a:p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GB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xT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= zeros(size(</a:t>
            </a:r>
            <a:r>
              <a:rPr lang="en-GB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xt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(1,:)));</a:t>
            </a:r>
          </a:p>
          <a:p>
            <a:r>
              <a:rPr lang="en-GB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xT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GB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xT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+ 2;</a:t>
            </a:r>
          </a:p>
          <a:p>
            <a:r>
              <a:rPr lang="en-GB" sz="1600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=1:3</a:t>
            </a:r>
          </a:p>
          <a:p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GB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xT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GB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xT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+ </a:t>
            </a:r>
            <a:r>
              <a:rPr lang="en-GB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xt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GB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,:);</a:t>
            </a:r>
          </a:p>
          <a:p>
            <a:r>
              <a:rPr lang="en-GB" sz="160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  <a:p>
            <a:r>
              <a:rPr lang="en-GB" sz="160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subplot(2, 3, 1),plot(t, </a:t>
            </a:r>
            <a:r>
              <a:rPr lang="en-GB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xt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(1,:));</a:t>
            </a:r>
            <a:r>
              <a:rPr lang="en-GB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xlabel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GB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'Time (s)’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r>
              <a:rPr lang="en-GB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ylabel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GB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'Amplitude'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subplot(2, 3, 2),plot(t, </a:t>
            </a:r>
            <a:r>
              <a:rPr lang="en-GB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xt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(2,:));</a:t>
            </a:r>
            <a:r>
              <a:rPr lang="en-GB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xlabel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GB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'Time (s)’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r>
              <a:rPr lang="en-GB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ylabel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GB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'Amplitude'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subplot(2, 3, 3),plot(t, </a:t>
            </a:r>
            <a:r>
              <a:rPr lang="en-GB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xt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(3,:));</a:t>
            </a:r>
            <a:r>
              <a:rPr lang="en-GB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xlabel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GB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'Time (s)'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r>
              <a:rPr lang="en-GB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ylabel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GB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'Amplitude'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subplot(2, 3, [4 6]), plot(t, </a:t>
            </a:r>
            <a:r>
              <a:rPr lang="en-GB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xT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r>
              <a:rPr lang="en-GB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xlabel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GB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'Time (s)'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r>
              <a:rPr lang="en-GB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ylabel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GB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'Amplitude'</a:t>
            </a:r>
            <a:r>
              <a:rPr lang="en-GB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endParaRPr lang="en-GB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28CF58-6312-D592-E5B8-B92DA2ADC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884" y="2309246"/>
            <a:ext cx="6861406" cy="858760"/>
          </a:xfrm>
          <a:prstGeom prst="rect">
            <a:avLst/>
          </a:prstGeom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42BFD9C5-0B74-09C1-9772-DEDED3DC79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57275" y="5342797"/>
            <a:ext cx="8858250" cy="124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042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C1DB1-C590-4676-A926-A60998452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 vs Frequency Domain</a:t>
            </a:r>
          </a:p>
        </p:txBody>
      </p:sp>
      <p:pic>
        <p:nvPicPr>
          <p:cNvPr id="2052" name="Picture 4" descr="Gambar terkait">
            <a:extLst>
              <a:ext uri="{FF2B5EF4-FFF2-40B4-BE49-F238E27FC236}">
                <a16:creationId xmlns:a16="http://schemas.microsoft.com/office/drawing/2014/main" id="{AFF8CB9B-3DCC-46C9-B413-F7F824D2CF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0072" y="1768842"/>
            <a:ext cx="6658297" cy="4684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0071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0940E-22D2-41EA-AA6C-B70872E77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Transformasi</a:t>
            </a:r>
            <a:r>
              <a:rPr lang="en-GB" dirty="0"/>
              <a:t> Fourier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135BBB-EC47-4FE6-8391-FACA0E5D75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000" dirty="0"/>
                  <a:t>Deret Fourier (Fourier Series):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𝑛𝐹𝑡</m:t>
                              </m:r>
                            </m:e>
                          </m:d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𝑛𝐹𝑡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  <a:p>
                <a:r>
                  <a:rPr lang="en-GB" sz="2000" dirty="0" err="1"/>
                  <a:t>Deret</a:t>
                </a:r>
                <a:r>
                  <a:rPr lang="en-GB" sz="2000" dirty="0"/>
                  <a:t> Fourier </a:t>
                </a:r>
                <a:r>
                  <a:rPr lang="en-GB" sz="2000" dirty="0" err="1"/>
                  <a:t>Bil</a:t>
                </a:r>
                <a:r>
                  <a:rPr lang="en-GB" sz="2000" dirty="0"/>
                  <a:t>. </a:t>
                </a:r>
                <a:r>
                  <a:rPr lang="en-GB" sz="2000" dirty="0" err="1"/>
                  <a:t>Kompleks</a:t>
                </a:r>
                <a:r>
                  <a:rPr lang="en-GB" sz="2000" dirty="0"/>
                  <a:t> (Fourier Complex Series):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𝑛𝐹𝑡</m:t>
                            </m:r>
                          </m:sup>
                        </m:sSup>
                      </m:e>
                    </m:nary>
                  </m:oMath>
                </a14:m>
                <a:endParaRPr lang="en-GB" sz="20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sz="2000" dirty="0"/>
                  <a:t> </a:t>
                </a:r>
                <a:r>
                  <a:rPr lang="en-GB" sz="2000" dirty="0" err="1"/>
                  <a:t>bilangan</a:t>
                </a:r>
                <a:r>
                  <a:rPr lang="en-GB" sz="2000" dirty="0"/>
                  <a:t> </a:t>
                </a:r>
                <a:r>
                  <a:rPr lang="en-GB" sz="2000" dirty="0" err="1"/>
                  <a:t>ril</a:t>
                </a:r>
                <a:r>
                  <a:rPr lang="en-GB" sz="2000" dirty="0"/>
                  <a:t>, </a:t>
                </a:r>
                <a:r>
                  <a:rPr lang="en-GB" sz="2000" dirty="0" err="1"/>
                  <a:t>sehingga</a:t>
                </a: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GB" sz="20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GB" sz="2000" dirty="0"/>
                  <a:t>Fourier Series (FS)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2000" dirty="0"/>
                  <a:t> Complex Fourier Series (CFS): </a:t>
                </a:r>
                <a:endParaRPr lang="en-GB" sz="200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±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b>
                      </m:sSub>
                      <m:r>
                        <a:rPr lang="en-GB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∓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en-GB" sz="2000" dirty="0">
                  <a:ea typeface="Cambria Math" panose="02040503050406030204" pitchFamily="18" charset="0"/>
                </a:endParaRP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GB" sz="2000" dirty="0"/>
                  <a:t>CFS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2000" dirty="0"/>
                  <a:t> FS: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GB" sz="20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2000" dirty="0"/>
              </a:p>
              <a:p>
                <a:endParaRPr lang="en-GB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135BBB-EC47-4FE6-8391-FACA0E5D75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9" t="-7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D820896-DA9F-4B1C-9328-D4C1AAEA51CE}"/>
                  </a:ext>
                </a:extLst>
              </p:cNvPr>
              <p:cNvSpPr/>
              <p:nvPr/>
            </p:nvSpPr>
            <p:spPr>
              <a:xfrm>
                <a:off x="1668234" y="6345816"/>
                <a:ext cx="214981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>
                          <a:latin typeface="Cambria Math" panose="02040503050406030204" pitchFamily="18" charset="0"/>
                        </a:rPr>
                        <m:t>konjugat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>
                          <a:latin typeface="Cambria Math" panose="02040503050406030204" pitchFamily="18" charset="0"/>
                        </a:rPr>
                        <m:t>dari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D820896-DA9F-4B1C-9328-D4C1AAEA51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234" y="6345816"/>
                <a:ext cx="2149819" cy="369332"/>
              </a:xfrm>
              <a:prstGeom prst="rect">
                <a:avLst/>
              </a:prstGeom>
              <a:blipFill>
                <a:blip r:embed="rId3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8574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466AE-AF4B-492F-BACC-8435B3421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Fourier Transform in 1D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21813B3-589E-4E58-8D19-1A4B681CF9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6875" y="1870788"/>
            <a:ext cx="8858250" cy="475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372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005EC-7E3A-4A0E-8893-EA8DEC9FB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Fourier Transform in 1D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2F4F86-6CBD-4D32-B31F-000EF19D9771}"/>
              </a:ext>
            </a:extLst>
          </p:cNvPr>
          <p:cNvSpPr/>
          <p:nvPr/>
        </p:nvSpPr>
        <p:spPr>
          <a:xfrm>
            <a:off x="909760" y="1404269"/>
            <a:ext cx="887532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XT = </a:t>
            </a:r>
            <a:r>
              <a:rPr lang="en-GB" dirty="0" err="1">
                <a:solidFill>
                  <a:srgbClr val="000000"/>
                </a:solidFill>
                <a:latin typeface="Courier New" panose="02070309020205020404" pitchFamily="49" charset="0"/>
              </a:rPr>
              <a:t>fft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GB" dirty="0" err="1">
                <a:solidFill>
                  <a:srgbClr val="000000"/>
                </a:solidFill>
                <a:latin typeface="Courier New" panose="02070309020205020404" pitchFamily="49" charset="0"/>
              </a:rPr>
              <a:t>xT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Mag  = abs(XT/N);</a:t>
            </a:r>
          </a:p>
          <a:p>
            <a:r>
              <a:rPr lang="nl-NL" dirty="0">
                <a:solidFill>
                  <a:srgbClr val="000000"/>
                </a:solidFill>
                <a:latin typeface="Courier New" panose="02070309020205020404" pitchFamily="49" charset="0"/>
              </a:rPr>
              <a:t>Mag1 = Mag(1:N/2+1);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Mag1(2:end-1) = 2*Mag1(2:end-1);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Fmax = Fs/2;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SL   = N/2;</a:t>
            </a:r>
          </a:p>
          <a:p>
            <a:r>
              <a:rPr lang="en-GB" dirty="0" err="1">
                <a:solidFill>
                  <a:srgbClr val="000000"/>
                </a:solidFill>
                <a:latin typeface="Courier New" panose="02070309020205020404" pitchFamily="49" charset="0"/>
              </a:rPr>
              <a:t>df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   = Fmax/SL;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f1   = (0:Fmax)*</a:t>
            </a:r>
            <a:r>
              <a:rPr lang="en-GB" dirty="0" err="1">
                <a:solidFill>
                  <a:srgbClr val="000000"/>
                </a:solidFill>
                <a:latin typeface="Courier New" panose="02070309020205020404" pitchFamily="49" charset="0"/>
              </a:rPr>
              <a:t>df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nl-NL" dirty="0">
                <a:solidFill>
                  <a:srgbClr val="000000"/>
                </a:solidFill>
                <a:latin typeface="Courier New" panose="02070309020205020404" pitchFamily="49" charset="0"/>
              </a:rPr>
              <a:t>subplot(4, 3, [7 9]), stem(f1, Mag1);</a:t>
            </a:r>
          </a:p>
          <a:p>
            <a:r>
              <a:rPr lang="en-GB" dirty="0" err="1">
                <a:solidFill>
                  <a:srgbClr val="000000"/>
                </a:solidFill>
                <a:latin typeface="Courier New" panose="02070309020205020404" pitchFamily="49" charset="0"/>
              </a:rPr>
              <a:t>xlabel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GB" dirty="0">
                <a:solidFill>
                  <a:srgbClr val="A020F0"/>
                </a:solidFill>
                <a:latin typeface="Courier New" panose="02070309020205020404" pitchFamily="49" charset="0"/>
              </a:rPr>
              <a:t>'Frequency (Hz)'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GB" dirty="0" err="1">
                <a:solidFill>
                  <a:srgbClr val="000000"/>
                </a:solidFill>
                <a:latin typeface="Courier New" panose="02070309020205020404" pitchFamily="49" charset="0"/>
              </a:rPr>
              <a:t>ylabel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GB" dirty="0">
                <a:solidFill>
                  <a:srgbClr val="A020F0"/>
                </a:solidFill>
                <a:latin typeface="Courier New" panose="02070309020205020404" pitchFamily="49" charset="0"/>
              </a:rPr>
              <a:t>'Magnitude Spectrum'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f2 = (-Fmax+1:Fmax)*</a:t>
            </a:r>
            <a:r>
              <a:rPr lang="en-GB" dirty="0" err="1">
                <a:solidFill>
                  <a:srgbClr val="000000"/>
                </a:solidFill>
                <a:latin typeface="Courier New" panose="02070309020205020404" pitchFamily="49" charset="0"/>
              </a:rPr>
              <a:t>df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Mag2 = zeros(size(Mag));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Mag2(N/2:N)   = Mag(1:N/2+1);</a:t>
            </a:r>
          </a:p>
          <a:p>
            <a:r>
              <a:rPr lang="nl-NL" dirty="0">
                <a:solidFill>
                  <a:srgbClr val="000000"/>
                </a:solidFill>
                <a:latin typeface="Courier New" panose="02070309020205020404" pitchFamily="49" charset="0"/>
              </a:rPr>
              <a:t>Mag2(1:N/2-1) = Mag(N/2+2:end);</a:t>
            </a:r>
          </a:p>
          <a:p>
            <a:r>
              <a:rPr lang="nl-NL" dirty="0">
                <a:solidFill>
                  <a:srgbClr val="000000"/>
                </a:solidFill>
                <a:latin typeface="Courier New" panose="02070309020205020404" pitchFamily="49" charset="0"/>
              </a:rPr>
              <a:t>subplot(4, 3, [10 12]), stem(f2, Mag2);</a:t>
            </a:r>
          </a:p>
          <a:p>
            <a:r>
              <a:rPr lang="en-GB" dirty="0" err="1">
                <a:solidFill>
                  <a:srgbClr val="000000"/>
                </a:solidFill>
                <a:latin typeface="Courier New" panose="02070309020205020404" pitchFamily="49" charset="0"/>
              </a:rPr>
              <a:t>xlabel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GB" dirty="0">
                <a:solidFill>
                  <a:srgbClr val="A020F0"/>
                </a:solidFill>
                <a:latin typeface="Courier New" panose="02070309020205020404" pitchFamily="49" charset="0"/>
              </a:rPr>
              <a:t>'Frequency (Hz)'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GB" dirty="0" err="1">
                <a:solidFill>
                  <a:srgbClr val="000000"/>
                </a:solidFill>
                <a:latin typeface="Courier New" panose="02070309020205020404" pitchFamily="49" charset="0"/>
              </a:rPr>
              <a:t>ylabel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GB" dirty="0">
                <a:solidFill>
                  <a:srgbClr val="A020F0"/>
                </a:solidFill>
                <a:latin typeface="Courier New" panose="02070309020205020404" pitchFamily="49" charset="0"/>
              </a:rPr>
              <a:t>'Magnitude Spectrum'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998976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CA72E-31F3-4F22-838F-2BACCEE3A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1D Signal Decomposition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6DEAB40-1B65-4A0A-A8CC-14CCCA89CE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6875" y="1886803"/>
            <a:ext cx="8858250" cy="472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89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0C794FC4-EC79-4ADA-A263-7A04C6266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28" y="300038"/>
            <a:ext cx="8875712" cy="571500"/>
          </a:xfrm>
        </p:spPr>
        <p:txBody>
          <a:bodyPr>
            <a:normAutofit fontScale="90000"/>
          </a:bodyPr>
          <a:lstStyle/>
          <a:p>
            <a:r>
              <a:rPr lang="en-GB" altLang="en-US" dirty="0"/>
              <a:t>1D Signal Decomposition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76C5D7-B94C-4E6D-AE92-63BC430C5419}"/>
              </a:ext>
            </a:extLst>
          </p:cNvPr>
          <p:cNvSpPr/>
          <p:nvPr/>
        </p:nvSpPr>
        <p:spPr>
          <a:xfrm>
            <a:off x="371128" y="1179269"/>
            <a:ext cx="660648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XTn1 = XT;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XTn1(2+1) = 0;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XTn1(3+1) = 0;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XTn1(end+1-2) = 0;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XTn1(end+1-3) = 0;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xtn1 = </a:t>
            </a:r>
            <a:r>
              <a:rPr lang="en-GB" dirty="0" err="1">
                <a:solidFill>
                  <a:srgbClr val="000000"/>
                </a:solidFill>
                <a:latin typeface="Courier New" panose="02070309020205020404" pitchFamily="49" charset="0"/>
              </a:rPr>
              <a:t>ifft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(XTn1);</a:t>
            </a:r>
          </a:p>
          <a:p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subplot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(5, 3, 10), plot(t, xtn1);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Magn2 = abs(XTn1/N);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Magn1 = Magn2(1:N/2+1);</a:t>
            </a:r>
          </a:p>
          <a:p>
            <a:r>
              <a:rPr lang="da-DK" dirty="0">
                <a:solidFill>
                  <a:srgbClr val="000000"/>
                </a:solidFill>
                <a:latin typeface="Courier New" panose="02070309020205020404" pitchFamily="49" charset="0"/>
              </a:rPr>
              <a:t>Magn1(2:end-1) = 2*Magn1(2:end-1);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subplot(5, 3, 13), stem(f, Magn1);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2447D8-29E7-4089-B914-8C3014E86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909" y="1433289"/>
            <a:ext cx="4429125" cy="3162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C78F9F8-59E9-4EED-A0BD-8209E51EF9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2835" y="467519"/>
            <a:ext cx="5910428" cy="32690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DE35BB-A58B-462D-A0A8-095DB0E19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15" y="4317876"/>
            <a:ext cx="8532440" cy="237887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A82EA9A-973A-470E-A4BA-BE69BC9F2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714" y="614736"/>
            <a:ext cx="2928647" cy="1925389"/>
          </a:xfrm>
        </p:spPr>
        <p:txBody>
          <a:bodyPr/>
          <a:lstStyle/>
          <a:p>
            <a:r>
              <a:rPr lang="en-GB" altLang="en-US" dirty="0"/>
              <a:t>Fourier Transform 2D</a:t>
            </a:r>
          </a:p>
        </p:txBody>
      </p:sp>
    </p:spTree>
    <p:extLst>
      <p:ext uri="{BB962C8B-B14F-4D97-AF65-F5344CB8AC3E}">
        <p14:creationId xmlns:p14="http://schemas.microsoft.com/office/powerpoint/2010/main" val="2132671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F98E3-538E-4755-81FF-2D960B1D7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Fourier Transform 2D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B5442-72A9-44D1-8250-5ECCEAEB8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Discrete Fourier Transform (DCT):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Invers Discrete Fourier Transform (</a:t>
            </a:r>
            <a:r>
              <a:rPr lang="en-GB" dirty="0" err="1"/>
              <a:t>iDCT</a:t>
            </a:r>
            <a:r>
              <a:rPr lang="en-GB" dirty="0"/>
              <a:t>):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A860C2-A725-4864-BDD1-6788DD4BA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2564904"/>
            <a:ext cx="9048750" cy="1333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74CA73-B494-465A-BAF7-7AFA7C235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4921928"/>
            <a:ext cx="9144000" cy="124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804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4B722-05F9-4580-8951-458DB1076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Magnitude and Phase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DA1A8F5-83E0-4F2D-973A-68F27B35DF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6875" y="1988841"/>
            <a:ext cx="8858250" cy="9124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089519-7C24-46F3-BE25-F86929AE0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028" y="3068961"/>
            <a:ext cx="6132165" cy="19852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D7167F-C39E-4CB5-9A29-8B09C7FBAC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9837" y="5229201"/>
            <a:ext cx="8875289" cy="74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791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93FA0-7E28-44B0-9BD2-140FA1E02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DCT 2D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8A926F8-8495-4A7C-8828-CC6CD9DE43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1505" y="1772816"/>
            <a:ext cx="2066925" cy="20383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56C149-540C-4700-9E0B-9063A7E94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992" y="4598100"/>
            <a:ext cx="2019300" cy="20288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F7709FF-42C0-4DFA-8D19-C0528ABDE3A1}"/>
              </a:ext>
            </a:extLst>
          </p:cNvPr>
          <p:cNvSpPr/>
          <p:nvPr/>
        </p:nvSpPr>
        <p:spPr>
          <a:xfrm>
            <a:off x="3810000" y="1731684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clear; </a:t>
            </a:r>
            <a:r>
              <a:rPr lang="en-GB" dirty="0" err="1">
                <a:solidFill>
                  <a:srgbClr val="000000"/>
                </a:solidFill>
                <a:latin typeface="Courier New" panose="02070309020205020404" pitchFamily="49" charset="0"/>
              </a:rPr>
              <a:t>clc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I = zeros(300);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I(125:175,100:200) = 1;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ft = fft2(I);</a:t>
            </a:r>
          </a:p>
          <a:p>
            <a:r>
              <a:rPr lang="en-GB" dirty="0" err="1">
                <a:solidFill>
                  <a:srgbClr val="000000"/>
                </a:solidFill>
                <a:latin typeface="Courier New" panose="02070309020205020404" pitchFamily="49" charset="0"/>
              </a:rPr>
              <a:t>ft_shift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GB" dirty="0" err="1">
                <a:solidFill>
                  <a:srgbClr val="000000"/>
                </a:solidFill>
                <a:latin typeface="Courier New" panose="02070309020205020404" pitchFamily="49" charset="0"/>
              </a:rPr>
              <a:t>fftshift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(ft);</a:t>
            </a:r>
          </a:p>
          <a:p>
            <a:r>
              <a:rPr lang="en-GB" dirty="0" err="1">
                <a:solidFill>
                  <a:srgbClr val="000000"/>
                </a:solidFill>
                <a:latin typeface="Courier New" panose="02070309020205020404" pitchFamily="49" charset="0"/>
              </a:rPr>
              <a:t>ftv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 = log(1+abs(</a:t>
            </a:r>
            <a:r>
              <a:rPr lang="en-GB" dirty="0" err="1">
                <a:solidFill>
                  <a:srgbClr val="000000"/>
                </a:solidFill>
                <a:latin typeface="Courier New" panose="02070309020205020404" pitchFamily="49" charset="0"/>
              </a:rPr>
              <a:t>ft_shift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));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8BDAB3-11FB-402F-8F7D-6F0FCF9B92B6}"/>
              </a:ext>
            </a:extLst>
          </p:cNvPr>
          <p:cNvSpPr/>
          <p:nvPr/>
        </p:nvSpPr>
        <p:spPr>
          <a:xfrm>
            <a:off x="5883052" y="404160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figure, </a:t>
            </a:r>
            <a:r>
              <a:rPr lang="en-GB" dirty="0" err="1">
                <a:solidFill>
                  <a:srgbClr val="000000"/>
                </a:solidFill>
                <a:latin typeface="Courier New" panose="02070309020205020404" pitchFamily="49" charset="0"/>
              </a:rPr>
              <a:t>imshow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(I);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Figure, </a:t>
            </a:r>
            <a:r>
              <a:rPr lang="en-GB" dirty="0" err="1">
                <a:solidFill>
                  <a:srgbClr val="000000"/>
                </a:solidFill>
                <a:latin typeface="Courier New" panose="02070309020205020404" pitchFamily="49" charset="0"/>
              </a:rPr>
              <a:t>imshow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GB" dirty="0" err="1">
                <a:solidFill>
                  <a:srgbClr val="000000"/>
                </a:solidFill>
                <a:latin typeface="Courier New" panose="02070309020205020404" pitchFamily="49" charset="0"/>
              </a:rPr>
              <a:t>ftv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,[]);</a:t>
            </a:r>
          </a:p>
        </p:txBody>
      </p:sp>
      <p:sp>
        <p:nvSpPr>
          <p:cNvPr id="8" name="Arrow: Bent-Up 7">
            <a:extLst>
              <a:ext uri="{FF2B5EF4-FFF2-40B4-BE49-F238E27FC236}">
                <a16:creationId xmlns:a16="http://schemas.microsoft.com/office/drawing/2014/main" id="{0811385D-E595-4201-B08F-F4AAD74FEFC1}"/>
              </a:ext>
            </a:extLst>
          </p:cNvPr>
          <p:cNvSpPr/>
          <p:nvPr/>
        </p:nvSpPr>
        <p:spPr>
          <a:xfrm rot="5400000">
            <a:off x="3541254" y="3751498"/>
            <a:ext cx="1944216" cy="273938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7074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406C7-5A2C-48A1-8851-E99D66F13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Properties of Fourier Transform #1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66D5CD3-3E21-4157-9814-C8D90B2E68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8700" y="1874837"/>
            <a:ext cx="8858250" cy="2567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348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77EAB-7B23-41E6-988A-F803F6BA2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Properties of Fourier Transform #2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C16871E-ABE2-48D5-86D3-7154117B2E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1926246"/>
            <a:ext cx="8858250" cy="272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4022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8A20E-CEA4-453A-92C5-54113AF8F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Properties of Fourier Transform #3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5556FD-6FFF-4827-ACF2-9A3B46AC4E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025" y="1690688"/>
            <a:ext cx="8858250" cy="307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767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5679A-3FDF-4737-BE5B-959B173C3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Properties of Fourier Transform #4-5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F91D1D8-D29B-4416-AD69-53CE622D10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025" y="1690688"/>
            <a:ext cx="8858250" cy="24158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480C83-07B2-4DB6-9283-3AB78E85A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4494262"/>
            <a:ext cx="8875289" cy="117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515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840AA-A588-4903-AB10-1179DF71F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Low-Pass Filter (LPF)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082E6-3C57-4461-A573-6A8ED7E63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Ideal LPF</a:t>
            </a:r>
          </a:p>
          <a:p>
            <a:r>
              <a:rPr lang="en-GB" dirty="0"/>
              <a:t>Gaussian LPF</a:t>
            </a:r>
          </a:p>
          <a:p>
            <a:r>
              <a:rPr lang="en-GB" dirty="0"/>
              <a:t>Butterworth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54BB70-71C5-456E-8775-D7E3E5B32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645025"/>
            <a:ext cx="9144000" cy="231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334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4C8A0-0C3E-4A7D-8AA0-441685ECF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Ideal LPF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D070E7-FBDE-48A6-AAFF-DD2FDE7CC2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34771" y="4600119"/>
            <a:ext cx="4408202" cy="22115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C80A47-8A34-40D7-95AD-D0369EE46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539" y="1690688"/>
            <a:ext cx="8028384" cy="290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6054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78BB6-B3A0-450D-8CFB-74E713677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Fourier Transform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51EDEED-C60F-4783-AAAD-C73F774516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6875" y="1772816"/>
            <a:ext cx="8858250" cy="22165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B8B52E-DA18-4718-B693-A2E379AC2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629" y="4077073"/>
            <a:ext cx="8854496" cy="106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0631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DAA61-531D-42C2-90F8-41FB47F64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Ideal LPF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1C26A4D-477E-4DDA-BB2A-AE8A552B39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2217" y="1564407"/>
            <a:ext cx="3190875" cy="476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DF8460-A57F-4A6B-A821-AF8342335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438" y="2140471"/>
            <a:ext cx="4286250" cy="1676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3EE735-2883-4C36-8316-901957419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633" y="3826759"/>
            <a:ext cx="8821644" cy="4739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B047EA-2AA1-4ED7-B757-62D1F8236F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312891"/>
            <a:ext cx="5295900" cy="9239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0C4DF2-C88D-4BA0-BAB2-18B6E3B21B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5236816"/>
            <a:ext cx="8893652" cy="106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655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DCB3D-8BCC-40CD-965F-03B965C07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Gaussian LPF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BF6495-AEED-4150-8520-723F691C4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40" y="1519183"/>
            <a:ext cx="7668344" cy="3617144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3C045C4-78C6-4B65-983A-578BBBF97F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950814" y="4861238"/>
            <a:ext cx="4104456" cy="199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9539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C955A-5C88-4251-B89E-5F747B291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Gaussian LPF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91198A9-65C7-45D0-A72E-176E7B84CF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6875" y="1988840"/>
            <a:ext cx="8858250" cy="23480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AC0892-FBBF-47C8-BE5C-455529D74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521" y="4526726"/>
            <a:ext cx="8892605" cy="185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0884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87355-38E7-4C31-BCDF-8FA544ABA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Gausian</a:t>
            </a:r>
            <a:r>
              <a:rPr lang="en-GB" dirty="0"/>
              <a:t> LPF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6AF1E9D-0F78-4F29-8D8E-95CF7F9E71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6875" y="1907065"/>
            <a:ext cx="8858250" cy="468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9420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C285B-C6B6-40DD-985A-8786FAB6A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Butterworth LPF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54B51C-C269-4553-A61A-B61F6B93B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346" y="1450579"/>
            <a:ext cx="8892605" cy="23726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8522F5-99A1-4FEB-9CBD-AD7CAA7C7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304" y="4173464"/>
            <a:ext cx="5508104" cy="261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5558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5B017-27FE-4DDA-B2FC-282F71398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Butterworth LPF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5E3F3C7-3540-4701-B382-14A0C8F2F7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6875" y="1844824"/>
            <a:ext cx="8858250" cy="22596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D52FC9-7029-4368-930C-9D5699379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5" y="4181272"/>
            <a:ext cx="8893621" cy="16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6715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CA9B0-09D1-4D9C-BDF2-9FD7938F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Butterworth LPF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2E403AD-AEC3-4133-AF89-61C6774C80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6875" y="1896918"/>
            <a:ext cx="8858250" cy="470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3265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E6C62-23A7-48BE-ABB3-F159E9830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High-Pass Filter HPF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CC6E6-92A5-4FBA-824F-44B934A15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Ideal HPF</a:t>
            </a:r>
          </a:p>
          <a:p>
            <a:r>
              <a:rPr lang="en-GB" dirty="0" err="1"/>
              <a:t>Gaussain</a:t>
            </a:r>
            <a:r>
              <a:rPr lang="en-GB" dirty="0"/>
              <a:t> HPF</a:t>
            </a:r>
          </a:p>
          <a:p>
            <a:r>
              <a:rPr lang="en-GB" dirty="0"/>
              <a:t>Butterworth HPF</a:t>
            </a:r>
          </a:p>
        </p:txBody>
      </p:sp>
    </p:spTree>
    <p:extLst>
      <p:ext uri="{BB962C8B-B14F-4D97-AF65-F5344CB8AC3E}">
        <p14:creationId xmlns:p14="http://schemas.microsoft.com/office/powerpoint/2010/main" val="8346299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C4B03-2AE8-466A-80A0-C096374DD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Ideal HPF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5A2E1D3-C14A-469D-AC57-F685903064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6875" y="1807020"/>
            <a:ext cx="8858250" cy="19100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012E15-4711-4266-ABED-E049CC99C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7648" y="3789041"/>
            <a:ext cx="6300192" cy="299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9684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DCC76-7B57-4F10-9D29-011E9301C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Gaussian HPF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D43B2DE-7C88-4218-834C-D373D2B080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6875" y="1844825"/>
            <a:ext cx="8858250" cy="22602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30E20E-68E4-4054-AB3E-AF34DEF63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760" y="4149080"/>
            <a:ext cx="5148064" cy="259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7424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12D52-293F-4002-8E58-A005C25E2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Butterworth HPF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0CC5D4B-2E20-497A-9B7E-E7167C3E88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6875" y="1767952"/>
            <a:ext cx="8858250" cy="15170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6847EF-0F54-4F77-B9E3-0474FFD14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7648" y="3429000"/>
            <a:ext cx="6156176" cy="309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1317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0E31E-98F7-4A9D-B89E-E4DE7E91C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High Frequency Emphasis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2E6A65-8F82-478D-BD1B-2FDB4B50B2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6875" y="1772816"/>
            <a:ext cx="8858250" cy="380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2003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F14FA-E598-4BC8-87B3-36C06FAD1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Ideal HPF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555BA7F-AC15-4A8B-9EA9-CCA87E50F0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3512" y="1476400"/>
            <a:ext cx="4572000" cy="16573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58A8C2-2845-45FB-BF82-A7805B1E8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5" y="3133750"/>
            <a:ext cx="5343525" cy="8953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180CED-F5C3-4E18-B1A4-61088128C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4528" y="3997846"/>
            <a:ext cx="8820628" cy="1599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405D69-F9E7-4408-B1F5-4D3A41CE4C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6536" y="5724872"/>
            <a:ext cx="8748620" cy="743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8520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A6369-D2BD-491F-99C2-2926FE8A9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Gaussian HPF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A42231-8759-4786-AE7E-BD11C0D67A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6875" y="1597175"/>
            <a:ext cx="8858250" cy="9154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8C4507-20EC-4729-AB22-5CBE169D8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5" y="2473654"/>
            <a:ext cx="8893621" cy="12117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2E76F7-9941-4299-BB79-CC245769C6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520" y="3685407"/>
            <a:ext cx="8892605" cy="268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405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491C-4C33-4539-955C-F3B636890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Butterworth HPF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5A83A2C-0B05-427C-A59D-7F9B0D355A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6875" y="1579265"/>
            <a:ext cx="8858250" cy="7402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A7E25C-CE1B-4761-9B76-4A5C058C9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5" y="2443362"/>
            <a:ext cx="8893621" cy="10696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98F4D0-4D29-468C-B7FC-3BAC4C411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521" y="3595489"/>
            <a:ext cx="8892605" cy="263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502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967</Words>
  <Application>Microsoft Office PowerPoint</Application>
  <PresentationFormat>Widescreen</PresentationFormat>
  <Paragraphs>148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Fourier Transform (Practical)</vt:lpstr>
      <vt:lpstr>Sampling Signal</vt:lpstr>
      <vt:lpstr>Sampling Signal</vt:lpstr>
      <vt:lpstr>Sampling Signal</vt:lpstr>
      <vt:lpstr>Deret Fourier</vt:lpstr>
      <vt:lpstr>Fourier Series</vt:lpstr>
      <vt:lpstr>Fourier Series</vt:lpstr>
      <vt:lpstr>Time vs Frequency Domain</vt:lpstr>
      <vt:lpstr>Transformasi Fourier</vt:lpstr>
      <vt:lpstr>Fourier Transform in 1D</vt:lpstr>
      <vt:lpstr>Fourier Transform in 1D</vt:lpstr>
      <vt:lpstr>1D Signal Decomposition</vt:lpstr>
      <vt:lpstr>1D Signal Decomposition</vt:lpstr>
      <vt:lpstr>Fourier Transform 2D</vt:lpstr>
      <vt:lpstr>Fourier Transform 2D</vt:lpstr>
      <vt:lpstr>Magnitude and Phase</vt:lpstr>
      <vt:lpstr>DCT 2D</vt:lpstr>
      <vt:lpstr>Properties of Fourier Transform #1</vt:lpstr>
      <vt:lpstr>Properties of Fourier Transform #2</vt:lpstr>
      <vt:lpstr>Properties of Fourier Transform #3</vt:lpstr>
      <vt:lpstr>Properties of Fourier Transform #4-5</vt:lpstr>
      <vt:lpstr>Low-Pass Filter (LPF)</vt:lpstr>
      <vt:lpstr>Ideal LPF</vt:lpstr>
      <vt:lpstr>Fourier Transform</vt:lpstr>
      <vt:lpstr>Ideal LPF</vt:lpstr>
      <vt:lpstr>Gaussian LPF</vt:lpstr>
      <vt:lpstr>Gaussian LPF</vt:lpstr>
      <vt:lpstr>Gausian LPF</vt:lpstr>
      <vt:lpstr>Butterworth LPF</vt:lpstr>
      <vt:lpstr>Butterworth LPF</vt:lpstr>
      <vt:lpstr>Butterworth LPF</vt:lpstr>
      <vt:lpstr>High-Pass Filter HPF</vt:lpstr>
      <vt:lpstr>Ideal HPF</vt:lpstr>
      <vt:lpstr>Gaussian HPF</vt:lpstr>
      <vt:lpstr>Butterworth HPF</vt:lpstr>
      <vt:lpstr>High Frequency Emphasis</vt:lpstr>
      <vt:lpstr>Ideal HPF</vt:lpstr>
      <vt:lpstr>Gaussian HPF</vt:lpstr>
      <vt:lpstr>Butterworth HPF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Fourier Transform (Practical)</dc:title>
  <dc:creator>aderry</dc:creator>
  <cp:lastModifiedBy>aderry</cp:lastModifiedBy>
  <cp:revision>8</cp:revision>
  <dcterms:created xsi:type="dcterms:W3CDTF">2023-04-27T23:17:53Z</dcterms:created>
  <dcterms:modified xsi:type="dcterms:W3CDTF">2023-04-27T23:46:21Z</dcterms:modified>
</cp:coreProperties>
</file>